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832" r:id="rId1"/>
  </p:sldMasterIdLst>
  <p:notesMasterIdLst>
    <p:notesMasterId r:id="rId54"/>
  </p:notesMasterIdLst>
  <p:sldIdLst>
    <p:sldId id="898" r:id="rId2"/>
    <p:sldId id="1342" r:id="rId3"/>
    <p:sldId id="1298" r:id="rId4"/>
    <p:sldId id="1300" r:id="rId5"/>
    <p:sldId id="1299" r:id="rId6"/>
    <p:sldId id="1301" r:id="rId7"/>
    <p:sldId id="1296" r:id="rId8"/>
    <p:sldId id="1303" r:id="rId9"/>
    <p:sldId id="1302" r:id="rId10"/>
    <p:sldId id="1304" r:id="rId11"/>
    <p:sldId id="1305" r:id="rId12"/>
    <p:sldId id="1306" r:id="rId13"/>
    <p:sldId id="1307" r:id="rId14"/>
    <p:sldId id="1308" r:id="rId15"/>
    <p:sldId id="1309" r:id="rId16"/>
    <p:sldId id="1310" r:id="rId17"/>
    <p:sldId id="1311" r:id="rId18"/>
    <p:sldId id="1343" r:id="rId19"/>
    <p:sldId id="1344" r:id="rId20"/>
    <p:sldId id="1345" r:id="rId21"/>
    <p:sldId id="1348" r:id="rId22"/>
    <p:sldId id="1347" r:id="rId23"/>
    <p:sldId id="1346" r:id="rId24"/>
    <p:sldId id="1341" r:id="rId25"/>
    <p:sldId id="1330" r:id="rId26"/>
    <p:sldId id="1331" r:id="rId27"/>
    <p:sldId id="1332" r:id="rId28"/>
    <p:sldId id="1327" r:id="rId29"/>
    <p:sldId id="1328" r:id="rId30"/>
    <p:sldId id="1329" r:id="rId31"/>
    <p:sldId id="1357" r:id="rId32"/>
    <p:sldId id="1340" r:id="rId33"/>
    <p:sldId id="1326" r:id="rId34"/>
    <p:sldId id="1325" r:id="rId35"/>
    <p:sldId id="1316" r:id="rId36"/>
    <p:sldId id="1353" r:id="rId37"/>
    <p:sldId id="1315" r:id="rId38"/>
    <p:sldId id="1314" r:id="rId39"/>
    <p:sldId id="1313" r:id="rId40"/>
    <p:sldId id="1312" r:id="rId41"/>
    <p:sldId id="1318" r:id="rId42"/>
    <p:sldId id="1349" r:id="rId43"/>
    <p:sldId id="1338" r:id="rId44"/>
    <p:sldId id="1319" r:id="rId45"/>
    <p:sldId id="1320" r:id="rId46"/>
    <p:sldId id="1322" r:id="rId47"/>
    <p:sldId id="1323" r:id="rId48"/>
    <p:sldId id="1351" r:id="rId49"/>
    <p:sldId id="1352" r:id="rId50"/>
    <p:sldId id="1355" r:id="rId51"/>
    <p:sldId id="1356" r:id="rId52"/>
    <p:sldId id="1173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59" userDrawn="1">
          <p15:clr>
            <a:srgbClr val="A4A3A4"/>
          </p15:clr>
        </p15:guide>
        <p15:guide id="3" pos="27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F3"/>
    <a:srgbClr val="B6D7A8"/>
    <a:srgbClr val="FFF2CC"/>
    <a:srgbClr val="F4CCCC"/>
    <a:srgbClr val="C6BEDF"/>
    <a:srgbClr val="FACCDF"/>
    <a:srgbClr val="FDF9C0"/>
    <a:srgbClr val="C1EAF8"/>
    <a:srgbClr val="FCE0E1"/>
    <a:srgbClr val="C2E9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16" autoAdjust="0"/>
    <p:restoredTop sz="71532" autoAdjust="0"/>
  </p:normalViewPr>
  <p:slideViewPr>
    <p:cSldViewPr snapToGrid="0" showGuides="1">
      <p:cViewPr varScale="1">
        <p:scale>
          <a:sx n="66" d="100"/>
          <a:sy n="66" d="100"/>
        </p:scale>
        <p:origin x="1944" y="176"/>
      </p:cViewPr>
      <p:guideLst>
        <p:guide orient="horz" pos="459"/>
        <p:guide pos="279"/>
      </p:guideLst>
    </p:cSldViewPr>
  </p:slideViewPr>
  <p:notesTextViewPr>
    <p:cViewPr>
      <p:scale>
        <a:sx n="105" d="100"/>
        <a:sy n="105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86" d="100"/>
          <a:sy n="86" d="100"/>
        </p:scale>
        <p:origin x="301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DC55E9-3775-47B8-A9FF-F98F72BF2A58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A74C5D-8905-4D81-BE92-D035E374EA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3861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altLang="zh-CN" dirty="0"/>
              <a:t>Pretrained and Fine-Tuning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ED94030-89A1-44FA-85C8-A64C4161286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9109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N" dirty="0"/>
              <a:t>GLUE</a:t>
            </a:r>
            <a:r>
              <a:rPr lang="zh-CN" altLang="en-US" dirty="0"/>
              <a:t> 是</a:t>
            </a:r>
            <a:r>
              <a:rPr lang="en-US" altLang="zh-CN" dirty="0"/>
              <a:t>2018</a:t>
            </a:r>
            <a:r>
              <a:rPr lang="zh-CN" altLang="en-US" dirty="0"/>
              <a:t>由</a:t>
            </a:r>
            <a:r>
              <a:rPr lang="en-US" altLang="zh-CN" dirty="0"/>
              <a:t>DeepMind</a:t>
            </a:r>
            <a:r>
              <a:rPr lang="zh-CN" altLang="en-US" dirty="0"/>
              <a:t> 华盛顿大学 以及纽约大学开发的，它是一个包含自然语言理解（</a:t>
            </a:r>
            <a:r>
              <a:rPr lang="en-US" dirty="0"/>
              <a:t>NLU）</a:t>
            </a:r>
            <a:r>
              <a:rPr lang="zh-CN" altLang="en-US" dirty="0"/>
              <a:t>任务的集合，包括</a:t>
            </a:r>
            <a:r>
              <a:rPr lang="en-US" altLang="zh-CN" dirty="0"/>
              <a:t>QA</a:t>
            </a:r>
            <a:r>
              <a:rPr lang="zh-CN" altLang="en-US" dirty="0"/>
              <a:t>、情感分析和文本蕴含，以及一个用于模型评估、比较和分析的在线平台。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91214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GLUE包含了</a:t>
            </a:r>
            <a:r>
              <a:rPr lang="en-US" altLang="zh-CN" dirty="0"/>
              <a:t>9</a:t>
            </a:r>
            <a:r>
              <a:rPr lang="zh-CN" altLang="en-US" dirty="0"/>
              <a:t>个任务，每一个任务都有对应的训练集和测试集合，以及具体的任务内容、模型评估指标。下面将依次介绍一下每一个任务。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14896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CoLA</a:t>
            </a:r>
            <a:r>
              <a:rPr lang="zh-CN" altLang="en-US" dirty="0"/>
              <a:t>，语言可接受性语料库（</a:t>
            </a:r>
            <a:r>
              <a:rPr lang="en-US" dirty="0"/>
              <a:t>The Corpus of Linguistic Acceptability）：</a:t>
            </a:r>
            <a:r>
              <a:rPr lang="zh-CN" altLang="en-US" dirty="0"/>
              <a:t> </a:t>
            </a:r>
            <a:r>
              <a:rPr lang="en-US" dirty="0" err="1"/>
              <a:t>CoLA</a:t>
            </a:r>
            <a:r>
              <a:rPr lang="en-US" dirty="0"/>
              <a:t> </a:t>
            </a:r>
            <a:r>
              <a:rPr lang="zh-CN" altLang="en-US" dirty="0"/>
              <a:t>语料库包括来自 </a:t>
            </a:r>
            <a:r>
              <a:rPr lang="en-US" altLang="zh-CN" dirty="0"/>
              <a:t>23 </a:t>
            </a:r>
            <a:r>
              <a:rPr lang="zh-CN" altLang="en-US" dirty="0"/>
              <a:t>篇语言学出版物的 </a:t>
            </a:r>
            <a:r>
              <a:rPr lang="en-US" altLang="zh-CN" dirty="0"/>
              <a:t>10,657 </a:t>
            </a:r>
            <a:r>
              <a:rPr lang="zh-CN" altLang="en-US" dirty="0"/>
              <a:t>个句子，由原作者根据可接受性（即语法性）进行了专业标注。</a:t>
            </a:r>
            <a:r>
              <a:rPr lang="en-US" altLang="zh-CN" dirty="0"/>
              <a:t>GLUE</a:t>
            </a:r>
            <a:r>
              <a:rPr lang="zh-CN" altLang="en-US" dirty="0"/>
              <a:t>提供的版本包含用于训练和验证集的 </a:t>
            </a:r>
            <a:r>
              <a:rPr lang="en-US" altLang="zh-CN" dirty="0"/>
              <a:t>9,594 </a:t>
            </a:r>
            <a:r>
              <a:rPr lang="zh-CN" altLang="en-US" dirty="0"/>
              <a:t>个句子，排除了属于保留测试集的 </a:t>
            </a:r>
            <a:r>
              <a:rPr lang="en-US" altLang="zh-CN" dirty="0"/>
              <a:t>1,063 </a:t>
            </a:r>
            <a:r>
              <a:rPr lang="zh-CN" altLang="en-US" dirty="0"/>
              <a:t>个句子。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主要从语言学理论的书籍和期刊文章中收集的英语句子，对每一个句子的可接受性进行判断。</a:t>
            </a:r>
          </a:p>
          <a:p>
            <a:r>
              <a:rPr lang="zh-CN" altLang="en-US" dirty="0"/>
              <a:t>每个示例都是一个词序列，并标注其是否为符合语法的英文句子。评分范围为 </a:t>
            </a:r>
            <a:r>
              <a:rPr lang="en-US" altLang="zh-CN" dirty="0"/>
              <a:t>[-1, 1]</a:t>
            </a:r>
            <a:r>
              <a:rPr lang="zh-CN" altLang="en-US" dirty="0"/>
              <a:t>。</a:t>
            </a:r>
          </a:p>
          <a:p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评估指标是 </a:t>
            </a:r>
            <a:r>
              <a:rPr lang="en-US" dirty="0"/>
              <a:t>Matthews </a:t>
            </a:r>
            <a:r>
              <a:rPr lang="zh-CN" altLang="en-US" dirty="0"/>
              <a:t>相关系数（</a:t>
            </a:r>
            <a:r>
              <a:rPr lang="en-US" dirty="0"/>
              <a:t>MCC）</a:t>
            </a:r>
            <a:r>
              <a:rPr lang="zh-CN" altLang="en-US" dirty="0"/>
              <a:t>分数。</a:t>
            </a:r>
            <a:r>
              <a:rPr lang="en-US" dirty="0"/>
              <a:t>MCC</a:t>
            </a:r>
            <a:r>
              <a:rPr lang="zh-CN" altLang="en-US" dirty="0"/>
              <a:t>是一种用于评估不平衡二分类器的指标。它是皮尔逊相关系数在</a:t>
            </a:r>
            <a:r>
              <a:rPr lang="en-US" altLang="zh-CN" dirty="0" err="1"/>
              <a:t>boolean</a:t>
            </a:r>
            <a:r>
              <a:rPr lang="zh-CN" altLang="en-US" dirty="0"/>
              <a:t>变量上的一种特例。它衡量的是两个布尔分布之间的相关性，取值范围在 </a:t>
            </a:r>
            <a:r>
              <a:rPr lang="en-US" altLang="zh-CN" dirty="0"/>
              <a:t>-1 </a:t>
            </a:r>
            <a:r>
              <a:rPr lang="zh-CN" altLang="en-US" dirty="0"/>
              <a:t>到 </a:t>
            </a:r>
            <a:r>
              <a:rPr lang="en-US" altLang="zh-CN" dirty="0"/>
              <a:t>1 </a:t>
            </a:r>
            <a:r>
              <a:rPr lang="zh-CN" altLang="en-US" dirty="0"/>
              <a:t>之间。平均而言，任何两个不相关的分布的 </a:t>
            </a:r>
            <a:r>
              <a:rPr lang="en-US" dirty="0"/>
              <a:t>MCC </a:t>
            </a:r>
            <a:r>
              <a:rPr lang="zh-CN" altLang="en-US" dirty="0"/>
              <a:t>都为 </a:t>
            </a:r>
            <a:r>
              <a:rPr lang="en-US" altLang="zh-CN" dirty="0"/>
              <a:t>0</a:t>
            </a:r>
            <a:r>
              <a:rPr lang="zh-CN" altLang="en-US" dirty="0"/>
              <a:t>，无论类别是否不平衡。相比之下，准确率（</a:t>
            </a:r>
            <a:r>
              <a:rPr lang="en-US" dirty="0"/>
              <a:t>accuracy）</a:t>
            </a:r>
            <a:r>
              <a:rPr lang="zh-CN" altLang="en-US" dirty="0"/>
              <a:t>和 </a:t>
            </a:r>
            <a:r>
              <a:rPr lang="en-US" dirty="0"/>
              <a:t>F1 </a:t>
            </a:r>
            <a:r>
              <a:rPr lang="zh-CN" altLang="en-US" dirty="0"/>
              <a:t>分数更偏向于多数类倾斜的分类器。</a:t>
            </a:r>
          </a:p>
          <a:p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/>
              <a:t>域内数据（</a:t>
            </a:r>
            <a:r>
              <a:rPr lang="en-US" b="1" dirty="0"/>
              <a:t>In-Domain）</a:t>
            </a:r>
            <a:r>
              <a:rPr lang="en-US" dirty="0"/>
              <a:t>：</a:t>
            </a:r>
            <a:r>
              <a:rPr lang="zh-CN" altLang="en-US" dirty="0"/>
              <a:t>这些句子来自与训练数据在风格、主题和复杂度等方面高度一致的来源。换句话说，这些示例代表了模型最常处理的数据类型，用于评估模型在熟悉语境中的表现。例如，如果训练数据主要由文学英语或标准编辑文本构成，那么域内测试数据也将来自类似的来源。</a:t>
            </a:r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09742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句子来自电影评论，并附有人类对其情感倾向的标注。该任务旨在预测给定句子的情感倾向。我们采用二分类（正面</a:t>
            </a:r>
            <a:r>
              <a:rPr lang="en-US" altLang="zh-CN" dirty="0"/>
              <a:t>/</a:t>
            </a:r>
            <a:r>
              <a:rPr lang="zh-CN" altLang="en-US" dirty="0"/>
              <a:t>负面）的方式，并仅使用句子级别的标签。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r>
              <a:rPr lang="zh-CN" altLang="en-US" dirty="0"/>
              <a:t>风格和流派的令人不安的混杂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它也很严厉，花太多时间在偏执的观点上</a:t>
            </a:r>
            <a:endParaRPr lang="en-US" altLang="zh-CN" dirty="0"/>
          </a:p>
          <a:p>
            <a:endParaRPr lang="zh-CN" altLang="en-US" dirty="0"/>
          </a:p>
          <a:p>
            <a:r>
              <a:rPr lang="en-US" altLang="zh-CN" dirty="0"/>
              <a:t>《</a:t>
            </a:r>
            <a:r>
              <a:rPr lang="en-US" dirty="0" err="1"/>
              <a:t>waydowntown</a:t>
            </a:r>
            <a:r>
              <a:rPr lang="en-US" dirty="0"/>
              <a:t>》</a:t>
            </a:r>
            <a:r>
              <a:rPr lang="zh-CN" altLang="en-US" dirty="0"/>
              <a:t>绝不是一部完美的电影，但它拥有巨大的魅力和原创性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长达 </a:t>
            </a:r>
            <a:r>
              <a:rPr lang="en-US" altLang="zh-CN" dirty="0"/>
              <a:t>179 </a:t>
            </a:r>
            <a:r>
              <a:rPr lang="zh-CN" altLang="en-US" dirty="0"/>
              <a:t>分钟的对革命本质的非凡思考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开始时发出一声巨响，但最后却像一根湿炸药棒一样嘶嘶作响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1620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微软研究院释义语料库（</a:t>
            </a:r>
            <a:r>
              <a:rPr lang="en-US" dirty="0"/>
              <a:t>Microsoft Research Paraphrase </a:t>
            </a:r>
            <a:r>
              <a:rPr lang="en-US" dirty="0" err="1"/>
              <a:t>Corpus，MRPC</a:t>
            </a:r>
            <a:r>
              <a:rPr lang="en-US" dirty="0"/>
              <a:t>）</a:t>
            </a:r>
          </a:p>
          <a:p>
            <a:r>
              <a:rPr lang="zh-CN" altLang="en-US" dirty="0"/>
              <a:t>该语料库由成对的句子组成，并附有人类对句子语义是否等价的标注。</a:t>
            </a:r>
          </a:p>
          <a:p>
            <a:r>
              <a:rPr lang="zh-CN" altLang="en-US" dirty="0"/>
              <a:t>类别分布不均衡（</a:t>
            </a:r>
            <a:r>
              <a:rPr lang="en-US" altLang="zh-CN" dirty="0"/>
              <a:t>68% </a:t>
            </a:r>
            <a:r>
              <a:rPr lang="zh-CN" altLang="en-US" dirty="0"/>
              <a:t>为正类），因此评估时同时报告准确率（</a:t>
            </a:r>
            <a:r>
              <a:rPr lang="en-US" dirty="0"/>
              <a:t>Accuracy）</a:t>
            </a:r>
            <a:r>
              <a:rPr lang="zh-CN" altLang="en-US" dirty="0"/>
              <a:t>和 </a:t>
            </a:r>
            <a:r>
              <a:rPr lang="en-US" dirty="0"/>
              <a:t>F1 </a:t>
            </a:r>
            <a:r>
              <a:rPr lang="zh-CN" altLang="en-US" dirty="0"/>
              <a:t>分数。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52151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94421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7148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多领域自然语言推理语料库（</a:t>
            </a:r>
            <a:r>
              <a:rPr lang="en-US" dirty="0"/>
              <a:t>Multi-Genre Natural Language Inference </a:t>
            </a:r>
            <a:r>
              <a:rPr lang="en-US" dirty="0" err="1"/>
              <a:t>Corpus，MNLI</a:t>
            </a:r>
            <a:r>
              <a:rPr lang="en-US" dirty="0"/>
              <a:t>）</a:t>
            </a:r>
          </a:p>
          <a:p>
            <a:r>
              <a:rPr lang="zh-CN" altLang="en-US" dirty="0"/>
              <a:t>该语料库收集（众包）的句子对组成，并标注了推理关系：蕴含（</a:t>
            </a:r>
            <a:r>
              <a:rPr lang="en-US" dirty="0"/>
              <a:t>entailment，0）、</a:t>
            </a:r>
            <a:r>
              <a:rPr lang="zh-CN" altLang="en-US" dirty="0"/>
              <a:t>矛盾（</a:t>
            </a:r>
            <a:r>
              <a:rPr lang="en-US" dirty="0"/>
              <a:t>contradiction，2）</a:t>
            </a:r>
            <a:r>
              <a:rPr lang="zh-CN" altLang="en-US" dirty="0"/>
              <a:t>和中性（</a:t>
            </a:r>
            <a:r>
              <a:rPr lang="en-US" dirty="0"/>
              <a:t>neutral，1）。</a:t>
            </a:r>
          </a:p>
          <a:p>
            <a:r>
              <a:rPr lang="zh-CN" altLang="en-US" dirty="0"/>
              <a:t>任务目标是预测这三类标签，评估指标为准确率（</a:t>
            </a:r>
            <a:r>
              <a:rPr lang="en-US" dirty="0"/>
              <a:t>accuracy）。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7535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斯坦福问答数据集（</a:t>
            </a:r>
            <a:r>
              <a:rPr lang="en-US" dirty="0"/>
              <a:t>The Stanford Question Answering </a:t>
            </a:r>
            <a:r>
              <a:rPr lang="en-US" dirty="0" err="1"/>
              <a:t>Dataset，QNLI</a:t>
            </a:r>
            <a:r>
              <a:rPr lang="en-US" dirty="0"/>
              <a:t>，</a:t>
            </a:r>
            <a:r>
              <a:rPr lang="zh-CN" altLang="en-US" dirty="0"/>
              <a:t>基于 </a:t>
            </a:r>
            <a:r>
              <a:rPr lang="en-US" dirty="0" err="1"/>
              <a:t>SQuAD</a:t>
            </a:r>
            <a:r>
              <a:rPr lang="en-US" dirty="0"/>
              <a:t>）</a:t>
            </a:r>
          </a:p>
          <a:p>
            <a:r>
              <a:rPr lang="zh-CN" altLang="en-US" dirty="0"/>
              <a:t>该任务被转换为句子对分类任务：将每个问题与对应语境中的每个句子配对，并过滤掉与问题在词汇上重合度较低的句子对。</a:t>
            </a:r>
          </a:p>
          <a:p>
            <a:r>
              <a:rPr lang="zh-CN" altLang="en-US" dirty="0"/>
              <a:t>任务目标是预测“是（</a:t>
            </a:r>
            <a:r>
              <a:rPr lang="en-US" dirty="0"/>
              <a:t>yes，0）”</a:t>
            </a:r>
            <a:r>
              <a:rPr lang="zh-CN" altLang="en-US" dirty="0"/>
              <a:t>或“否（</a:t>
            </a:r>
            <a:r>
              <a:rPr lang="en-US" dirty="0"/>
              <a:t>no，1）”，</a:t>
            </a:r>
            <a:r>
              <a:rPr lang="zh-CN" altLang="en-US" dirty="0"/>
              <a:t>即判断该语境句子是否包含问题的答案。</a:t>
            </a:r>
          </a:p>
          <a:p>
            <a:endParaRPr lang="en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一些小诗被收录在</a:t>
            </a:r>
            <a:r>
              <a:rPr lang="en-US" altLang="zh-CN" dirty="0"/>
              <a:t>《</a:t>
            </a:r>
            <a:r>
              <a:rPr lang="zh-CN" altLang="en-US" dirty="0"/>
              <a:t>维吉尔附录</a:t>
            </a:r>
            <a:r>
              <a:rPr lang="en-US" altLang="zh-CN" dirty="0"/>
              <a:t>》</a:t>
            </a:r>
            <a:r>
              <a:rPr lang="zh-CN" altLang="en-US" dirty="0"/>
              <a:t>中，有时被认为是他写的。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59687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文本蕴含识别任务（</a:t>
            </a:r>
            <a:r>
              <a:rPr lang="en-US" dirty="0"/>
              <a:t>Recognizing Textual </a:t>
            </a:r>
            <a:r>
              <a:rPr lang="en-US" dirty="0" err="1"/>
              <a:t>Entailment，RTE</a:t>
            </a:r>
            <a:r>
              <a:rPr lang="en-US" dirty="0"/>
              <a:t>）</a:t>
            </a:r>
          </a:p>
          <a:p>
            <a:r>
              <a:rPr lang="zh-CN" altLang="en-US" dirty="0"/>
              <a:t>该任务旨在判断句子对之间是否存在蕴含关系，预测结果为“蕴含（</a:t>
            </a:r>
            <a:r>
              <a:rPr lang="en-US" dirty="0"/>
              <a:t>entailment，0）”</a:t>
            </a:r>
            <a:r>
              <a:rPr lang="zh-CN" altLang="en-US" dirty="0"/>
              <a:t>或“非蕴含（</a:t>
            </a:r>
            <a:r>
              <a:rPr lang="en-US" dirty="0"/>
              <a:t>not entailment，1）”。</a:t>
            </a:r>
          </a:p>
          <a:p>
            <a:endParaRPr lang="en-US" b="1" i="0" dirty="0">
              <a:solidFill>
                <a:srgbClr val="202122"/>
              </a:solidFill>
              <a:effectLst/>
              <a:highlight>
                <a:srgbClr val="FFFFFF"/>
              </a:highlight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尤科斯石油公司（</a:t>
            </a:r>
            <a:r>
              <a:rPr lang="en-US" dirty="0"/>
              <a:t>OJSC “Yukos Oil Company”）</a:t>
            </a:r>
            <a:r>
              <a:rPr lang="zh-CN" altLang="en-US" dirty="0"/>
              <a:t>是一家总部位于俄罗斯莫斯科的石油天然气公司。</a:t>
            </a:r>
          </a:p>
          <a:p>
            <a:endParaRPr lang="en-US" b="1" i="0" dirty="0">
              <a:solidFill>
                <a:srgbClr val="202122"/>
              </a:solidFill>
              <a:effectLst/>
              <a:highlight>
                <a:srgbClr val="FFFFFF"/>
              </a:highlight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75561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Winograd Schema </a:t>
            </a:r>
            <a:r>
              <a:rPr lang="en-US" dirty="0" err="1"/>
              <a:t>Challenge，WNLI</a:t>
            </a:r>
            <a:r>
              <a:rPr lang="zh-CN" altLang="en-US" dirty="0"/>
              <a:t>：阅读理解任务，旨在通过判断两个句子之间的蕴含关系来识别代词的指代对象（其中一个句子明确指代对象）。</a:t>
            </a:r>
          </a:p>
          <a:p>
            <a:r>
              <a:rPr lang="zh-CN" altLang="en-US" dirty="0"/>
              <a:t>任务目标是预测 </a:t>
            </a:r>
            <a:r>
              <a:rPr lang="en-US" altLang="zh-CN" dirty="0"/>
              <a:t>1</a:t>
            </a:r>
            <a:r>
              <a:rPr lang="zh-CN" altLang="en-US" dirty="0"/>
              <a:t>（存在蕴含关系）或 </a:t>
            </a:r>
            <a:r>
              <a:rPr lang="en-US" altLang="zh-CN" dirty="0"/>
              <a:t>0</a:t>
            </a:r>
            <a:r>
              <a:rPr lang="zh-CN" altLang="en-US" dirty="0"/>
              <a:t>（不存在蕴含关系）。</a:t>
            </a:r>
          </a:p>
          <a:p>
            <a:r>
              <a:rPr lang="zh-CN" altLang="en-US" dirty="0"/>
              <a:t>该任务旨在迷惑简单的统计方法。</a:t>
            </a:r>
          </a:p>
          <a:p>
            <a:r>
              <a:rPr lang="zh-CN" altLang="en-US" dirty="0"/>
              <a:t>测试集类别不平衡（</a:t>
            </a:r>
            <a:r>
              <a:rPr lang="en-US" altLang="zh-CN" dirty="0"/>
              <a:t>65% </a:t>
            </a:r>
            <a:r>
              <a:rPr lang="zh-CN" altLang="en-US" dirty="0"/>
              <a:t>为非蕴含），开发集具有对抗性，依赖记忆的模型会表现不佳。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87961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75795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SuperGLUE</a:t>
            </a:r>
            <a:r>
              <a:rPr lang="en-US" dirty="0"/>
              <a:t> </a:t>
            </a:r>
            <a:r>
              <a:rPr lang="zh-CN" altLang="en-US" dirty="0"/>
              <a:t>所包含的任务。</a:t>
            </a:r>
            <a:r>
              <a:rPr lang="en-US" dirty="0"/>
              <a:t>WSD </a:t>
            </a:r>
            <a:r>
              <a:rPr lang="zh-CN" altLang="en-US" dirty="0"/>
              <a:t>词义消歧（</a:t>
            </a:r>
            <a:r>
              <a:rPr lang="en-US" dirty="0"/>
              <a:t>word sense disambiguation），NLI </a:t>
            </a:r>
            <a:r>
              <a:rPr lang="zh-CN" altLang="en-US" dirty="0"/>
              <a:t>自然语言推理（</a:t>
            </a:r>
            <a:r>
              <a:rPr lang="en-US" dirty="0"/>
              <a:t>natural language inference），</a:t>
            </a:r>
            <a:r>
              <a:rPr lang="en-US" dirty="0" err="1"/>
              <a:t>coref</a:t>
            </a:r>
            <a:r>
              <a:rPr lang="en-US" dirty="0"/>
              <a:t>. </a:t>
            </a:r>
            <a:r>
              <a:rPr lang="zh-CN" altLang="en-US" dirty="0"/>
              <a:t>表示指代消解（</a:t>
            </a:r>
            <a:r>
              <a:rPr lang="en-US" dirty="0"/>
              <a:t>coreference resolution），QA </a:t>
            </a:r>
            <a:r>
              <a:rPr lang="zh-CN" altLang="en-US" dirty="0"/>
              <a:t>表示问答（</a:t>
            </a:r>
            <a:r>
              <a:rPr lang="en-US" dirty="0"/>
              <a:t>question answering）。</a:t>
            </a:r>
            <a:r>
              <a:rPr lang="zh-CN" altLang="en-US" dirty="0"/>
              <a:t>对于 </a:t>
            </a:r>
            <a:r>
              <a:rPr lang="en-US" dirty="0" err="1"/>
              <a:t>MultiRC</a:t>
            </a:r>
            <a:r>
              <a:rPr lang="en-US" dirty="0"/>
              <a:t>，</a:t>
            </a:r>
            <a:r>
              <a:rPr lang="zh-CN" altLang="en-US" dirty="0"/>
              <a:t>列出了训练集、开发集和测试集问题所对应的总回答数，分别为 </a:t>
            </a:r>
            <a:r>
              <a:rPr lang="en-US" altLang="zh-CN" dirty="0"/>
              <a:t>456/83/166</a:t>
            </a:r>
            <a:r>
              <a:rPr lang="zh-CN" altLang="en-US" dirty="0"/>
              <a:t>。</a:t>
            </a:r>
            <a:r>
              <a:rPr lang="en-US" dirty="0" err="1"/>
              <a:t>MultiRC</a:t>
            </a:r>
            <a:r>
              <a:rPr lang="en-US" dirty="0"/>
              <a:t> </a:t>
            </a:r>
            <a:r>
              <a:rPr lang="zh-CN" altLang="en-US" dirty="0"/>
              <a:t>的评估指标为：所有答案选项上的二分类 </a:t>
            </a:r>
            <a:r>
              <a:rPr lang="en-US" dirty="0"/>
              <a:t>F1 </a:t>
            </a:r>
            <a:r>
              <a:rPr lang="zh-CN" altLang="en-US" dirty="0"/>
              <a:t>分数和完全匹配（</a:t>
            </a:r>
            <a:r>
              <a:rPr lang="en-US" dirty="0"/>
              <a:t>exact match）</a:t>
            </a:r>
            <a:r>
              <a:rPr lang="zh-CN" altLang="en-US" dirty="0"/>
              <a:t>分数。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80066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</a:rPr>
              <a:t>inducted into : to admit as a member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12139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CommitmentBank（CB</a:t>
            </a:r>
            <a:r>
              <a:rPr lang="en-US" dirty="0"/>
              <a:t>）：</a:t>
            </a:r>
            <a:r>
              <a:rPr lang="zh-CN" altLang="en-US" dirty="0"/>
              <a:t>判断作者是否对嵌套从句的真实性表达了承诺。每个示例由一个包含嵌套从句的前提句组成，其对应的假设则是从该从句中提取出来的内容。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86986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合理选项选择任务（</a:t>
            </a:r>
            <a:r>
              <a:rPr lang="en-US" dirty="0"/>
              <a:t>Choice of Plausible Alternatives），</a:t>
            </a:r>
            <a:r>
              <a:rPr lang="zh-CN" altLang="en-US" dirty="0"/>
              <a:t>是一项因果推理任务。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33589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 err="1"/>
              <a:t>WiC</a:t>
            </a:r>
            <a:r>
              <a:rPr lang="zh-CN" altLang="en-US" dirty="0"/>
              <a:t>的例子里面，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语境 </a:t>
            </a:r>
            <a:r>
              <a:rPr lang="en-US" altLang="zh-CN" dirty="0"/>
              <a:t>1</a:t>
            </a:r>
            <a:r>
              <a:rPr lang="zh-CN" altLang="en-US" dirty="0"/>
              <a:t>：食宿。</a:t>
            </a:r>
          </a:p>
          <a:p>
            <a:r>
              <a:rPr lang="zh-CN" altLang="en-US" dirty="0"/>
              <a:t>语境 </a:t>
            </a:r>
            <a:r>
              <a:rPr lang="en-US" altLang="zh-CN" dirty="0"/>
              <a:t>2</a:t>
            </a:r>
            <a:r>
              <a:rPr lang="zh-CN" altLang="en-US" dirty="0"/>
              <a:t>：他在窗户上钉上了木板。</a:t>
            </a:r>
          </a:p>
          <a:p>
            <a:endParaRPr lang="en-US" altLang="zh-CN" dirty="0"/>
          </a:p>
          <a:p>
            <a:r>
              <a:rPr lang="zh-CN" altLang="en-US" dirty="0"/>
              <a:t>词义匹配：否（</a:t>
            </a:r>
            <a:r>
              <a:rPr lang="en-US" dirty="0"/>
              <a:t>False）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55503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指代消解任务（</a:t>
            </a:r>
            <a:r>
              <a:rPr lang="en-US" dirty="0"/>
              <a:t>Coreference resolution task），</a:t>
            </a:r>
            <a:r>
              <a:rPr lang="zh-CN" altLang="en-US" dirty="0"/>
              <a:t>每个示例由一个包含代词的句子以及该句子中的名词短语列表组成。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77594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SWAG（Situations</a:t>
            </a:r>
            <a:r>
              <a:rPr lang="en-US" dirty="0"/>
              <a:t> With Adversarial Generations）</a:t>
            </a:r>
            <a:r>
              <a:rPr lang="zh-CN" altLang="en-US" dirty="0"/>
              <a:t>是一个用于常识推理的大规模对抗性数据集。</a:t>
            </a:r>
          </a:p>
          <a:p>
            <a:r>
              <a:rPr lang="zh-CN" altLang="en-US" dirty="0"/>
              <a:t>该新数据集包含 </a:t>
            </a:r>
            <a:r>
              <a:rPr lang="en-US" altLang="zh-CN" dirty="0"/>
              <a:t>11.3 </a:t>
            </a:r>
            <a:r>
              <a:rPr lang="zh-CN" altLang="en-US" dirty="0"/>
              <a:t>万道多项选择题，涵盖了丰富多样的具体情境。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给出一个不完整的描述：“她打开了汽车的引擎盖”，我们可以推理出：“然后，她检查了发动机”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该数据集通过对抗性过滤（</a:t>
            </a:r>
            <a:r>
              <a:rPr lang="en-US" dirty="0"/>
              <a:t>Adversarial Filtering）</a:t>
            </a:r>
            <a:r>
              <a:rPr lang="zh-CN" altLang="en-US" dirty="0"/>
              <a:t>构建，以识别那些基于语义而非词汇重叠的答案。示例：“在舞台上，一位女士坐到了钢琴前。”接下来会发生什么？</a:t>
            </a:r>
            <a:endParaRPr lang="en-US" altLang="zh-CN" dirty="0"/>
          </a:p>
          <a:p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在舞台上，一位女士坐到了钢琴前。她接下来：</a:t>
            </a:r>
          </a:p>
          <a:p>
            <a:r>
              <a:rPr lang="en-US" dirty="0"/>
              <a:t>a) </a:t>
            </a:r>
            <a:r>
              <a:rPr lang="zh-CN" altLang="en-US" dirty="0"/>
              <a:t>坐在长椅上，而她的妹妹在玩洋娃娃。</a:t>
            </a:r>
          </a:p>
          <a:p>
            <a:r>
              <a:rPr lang="en-US" dirty="0"/>
              <a:t>b) </a:t>
            </a:r>
            <a:r>
              <a:rPr lang="zh-CN" altLang="en-US" dirty="0"/>
              <a:t>随着音乐的响起与某人微笑互动。</a:t>
            </a:r>
          </a:p>
          <a:p>
            <a:r>
              <a:rPr lang="en-US" dirty="0"/>
              <a:t>c) </a:t>
            </a:r>
            <a:r>
              <a:rPr lang="zh-CN" altLang="en-US" dirty="0"/>
              <a:t>坐在人群中观看舞者表演。</a:t>
            </a:r>
          </a:p>
          <a:p>
            <a:r>
              <a:rPr lang="en-US" dirty="0"/>
              <a:t>d) </a:t>
            </a:r>
            <a:r>
              <a:rPr lang="zh-CN" altLang="en-US" dirty="0"/>
              <a:t>紧张地把手指放在琴键上。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一个女孩正在穿越一组单杠。她接下来会：</a:t>
            </a:r>
          </a:p>
          <a:p>
            <a:r>
              <a:rPr lang="en-US" dirty="0"/>
              <a:t>a) </a:t>
            </a:r>
            <a:r>
              <a:rPr lang="zh-CN" altLang="en-US" dirty="0"/>
              <a:t>跳起来穿过单杠。</a:t>
            </a:r>
          </a:p>
          <a:p>
            <a:r>
              <a:rPr lang="en-US" dirty="0"/>
              <a:t>b) </a:t>
            </a:r>
            <a:r>
              <a:rPr lang="zh-CN" altLang="en-US" dirty="0"/>
              <a:t>吃力地爬上单杠去抓她的头。</a:t>
            </a:r>
          </a:p>
          <a:p>
            <a:r>
              <a:rPr lang="en-US" dirty="0"/>
              <a:t>c) </a:t>
            </a:r>
            <a:r>
              <a:rPr lang="zh-CN" altLang="en-US" dirty="0"/>
              <a:t>到达末端并站在一块木板上。</a:t>
            </a:r>
          </a:p>
          <a:p>
            <a:r>
              <a:rPr lang="en-US" dirty="0"/>
              <a:t>d) </a:t>
            </a:r>
            <a:r>
              <a:rPr lang="zh-CN" altLang="en-US" dirty="0"/>
              <a:t>跳起来做了一个后空翻。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4401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我们的语料库由 </a:t>
            </a:r>
            <a:r>
              <a:rPr lang="en-US" altLang="zh-CN" dirty="0"/>
              <a:t>11.3 </a:t>
            </a:r>
            <a:r>
              <a:rPr lang="zh-CN" altLang="en-US" dirty="0"/>
              <a:t>万道多项选择题组成（包括 </a:t>
            </a:r>
            <a:r>
              <a:rPr lang="en-US" altLang="zh-CN" dirty="0"/>
              <a:t>7.3 </a:t>
            </a:r>
            <a:r>
              <a:rPr lang="zh-CN" altLang="en-US" dirty="0"/>
              <a:t>万条训练数据，</a:t>
            </a:r>
            <a:r>
              <a:rPr lang="en-US" altLang="zh-CN" dirty="0"/>
              <a:t>2 </a:t>
            </a:r>
            <a:r>
              <a:rPr lang="zh-CN" altLang="en-US" dirty="0"/>
              <a:t>万条验证数据，</a:t>
            </a:r>
            <a:r>
              <a:rPr lang="en-US" altLang="zh-CN" dirty="0"/>
              <a:t>2 </a:t>
            </a:r>
            <a:r>
              <a:rPr lang="zh-CN" altLang="en-US" dirty="0"/>
              <a:t>万条测试数据），来源于 </a:t>
            </a:r>
            <a:r>
              <a:rPr lang="en-US" dirty="0" err="1"/>
              <a:t>ActivityNet</a:t>
            </a:r>
            <a:r>
              <a:rPr lang="en-US" dirty="0"/>
              <a:t> Captions </a:t>
            </a:r>
            <a:r>
              <a:rPr lang="zh-CN" altLang="en-US" dirty="0"/>
              <a:t>和 </a:t>
            </a:r>
            <a:r>
              <a:rPr lang="en-US" dirty="0"/>
              <a:t>Large Scale Movie Description Challenge </a:t>
            </a:r>
            <a:r>
              <a:rPr lang="zh-CN" altLang="en-US" dirty="0"/>
              <a:t>中一对对连续的视频字幕。</a:t>
            </a:r>
          </a:p>
          <a:p>
            <a:endParaRPr lang="en-US" altLang="zh-CN" dirty="0"/>
          </a:p>
          <a:p>
            <a:r>
              <a:rPr lang="zh-CN" altLang="en-US" dirty="0"/>
              <a:t>对于每对字幕，我们使用成分句法分析器将第二句拆分为名词短语和动词短语。</a:t>
            </a:r>
          </a:p>
          <a:p>
            <a:endParaRPr lang="en-US" altLang="zh-CN" dirty="0"/>
          </a:p>
          <a:p>
            <a:r>
              <a:rPr lang="zh-CN" altLang="en-US" dirty="0"/>
              <a:t>每个问题都包含一个由人工验证的正确结尾（</a:t>
            </a:r>
            <a:r>
              <a:rPr lang="en-US" dirty="0"/>
              <a:t>gold ending）</a:t>
            </a:r>
            <a:r>
              <a:rPr lang="zh-CN" altLang="en-US" dirty="0"/>
              <a:t>和三个干扰选项（</a:t>
            </a:r>
            <a:r>
              <a:rPr lang="en-US" dirty="0"/>
              <a:t>distractors）。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28653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一位服务员拿来了一把叉子。服务员接下来：</a:t>
            </a:r>
          </a:p>
          <a:p>
            <a:r>
              <a:rPr lang="en-US" dirty="0"/>
              <a:t>a) </a:t>
            </a:r>
            <a:r>
              <a:rPr lang="zh-CN" altLang="en-US" dirty="0"/>
              <a:t>开始转身离开。</a:t>
            </a:r>
            <a:r>
              <a:rPr lang="zh-CN" altLang="en-US" b="1" dirty="0"/>
              <a:t>（</a:t>
            </a:r>
            <a:r>
              <a:rPr lang="en-US" altLang="zh-CN" b="1" dirty="0"/>
              <a:t>74.76%</a:t>
            </a:r>
            <a:r>
              <a:rPr lang="zh-CN" altLang="en-US" b="1" dirty="0"/>
              <a:t>）</a:t>
            </a:r>
            <a:endParaRPr lang="zh-CN" altLang="en-US" dirty="0"/>
          </a:p>
          <a:p>
            <a:r>
              <a:rPr lang="en-US" dirty="0"/>
              <a:t>b) </a:t>
            </a:r>
            <a:r>
              <a:rPr lang="zh-CN" altLang="en-US" dirty="0"/>
              <a:t>往桌上添加了意大利面。</a:t>
            </a:r>
            <a:r>
              <a:rPr lang="zh-CN" altLang="en-US" b="1" dirty="0"/>
              <a:t>（</a:t>
            </a:r>
            <a:r>
              <a:rPr lang="en-US" altLang="zh-CN" b="1" dirty="0"/>
              <a:t>21.57%</a:t>
            </a:r>
            <a:r>
              <a:rPr lang="zh-CN" altLang="en-US" b="1" dirty="0"/>
              <a:t>）</a:t>
            </a:r>
            <a:endParaRPr lang="zh-CN" altLang="en-US" dirty="0"/>
          </a:p>
          <a:p>
            <a:r>
              <a:rPr lang="en-US" dirty="0"/>
              <a:t>c) </a:t>
            </a:r>
            <a:r>
              <a:rPr lang="zh-CN" altLang="en-US" dirty="0"/>
              <a:t>把一堆馅饼端到了食物旁。</a:t>
            </a:r>
            <a:r>
              <a:rPr lang="zh-CN" altLang="en-US" b="1" dirty="0"/>
              <a:t>（</a:t>
            </a:r>
            <a:r>
              <a:rPr lang="en-US" altLang="zh-CN" b="1" dirty="0"/>
              <a:t>2.67%</a:t>
            </a:r>
            <a:r>
              <a:rPr lang="zh-CN" altLang="en-US" b="1" dirty="0"/>
              <a:t>）</a:t>
            </a:r>
            <a:endParaRPr lang="zh-CN" altLang="en-US" dirty="0"/>
          </a:p>
          <a:p>
            <a:r>
              <a:rPr lang="en-US" dirty="0"/>
              <a:t>d) </a:t>
            </a:r>
            <a:r>
              <a:rPr lang="zh-CN" altLang="en-US" dirty="0"/>
              <a:t>从碗里的杯子里喝水。</a:t>
            </a:r>
            <a:r>
              <a:rPr lang="zh-CN" altLang="en-US" b="1" dirty="0"/>
              <a:t>（</a:t>
            </a:r>
            <a:r>
              <a:rPr lang="en-US" altLang="zh-CN" b="1" dirty="0"/>
              <a:t>0.98%</a:t>
            </a:r>
            <a:r>
              <a:rPr lang="zh-CN" altLang="en-US" b="1" dirty="0"/>
              <a:t>）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dirty="0"/>
              <a:t>一位老人正在驾驶一辆小型碰碰车。几个人接下来：</a:t>
            </a:r>
          </a:p>
          <a:p>
            <a:r>
              <a:rPr lang="en-US" dirty="0"/>
              <a:t>a) </a:t>
            </a:r>
            <a:r>
              <a:rPr lang="zh-CN" altLang="en-US" dirty="0"/>
              <a:t>进入停车场。</a:t>
            </a:r>
            <a:r>
              <a:rPr lang="zh-CN" altLang="en-US" b="1" dirty="0"/>
              <a:t>（</a:t>
            </a:r>
            <a:r>
              <a:rPr lang="en-US" altLang="zh-CN" b="1" dirty="0"/>
              <a:t>76.58%</a:t>
            </a:r>
            <a:r>
              <a:rPr lang="zh-CN" altLang="en-US" b="1" dirty="0"/>
              <a:t>）</a:t>
            </a:r>
            <a:endParaRPr lang="zh-CN" altLang="en-US" dirty="0"/>
          </a:p>
          <a:p>
            <a:r>
              <a:rPr lang="en-US" dirty="0"/>
              <a:t>b) </a:t>
            </a:r>
            <a:r>
              <a:rPr lang="zh-CN" altLang="en-US" dirty="0"/>
              <a:t>在车里等待。</a:t>
            </a:r>
            <a:r>
              <a:rPr lang="zh-CN" altLang="en-US" b="1" dirty="0"/>
              <a:t>（</a:t>
            </a:r>
            <a:r>
              <a:rPr lang="en-US" altLang="zh-CN" b="1" dirty="0"/>
              <a:t>15.28%</a:t>
            </a:r>
            <a:r>
              <a:rPr lang="zh-CN" altLang="en-US" b="1" dirty="0"/>
              <a:t>）</a:t>
            </a:r>
            <a:endParaRPr lang="zh-CN" altLang="en-US" dirty="0"/>
          </a:p>
          <a:p>
            <a:r>
              <a:rPr lang="en-US" dirty="0"/>
              <a:t>c) </a:t>
            </a:r>
            <a:r>
              <a:rPr lang="zh-CN" altLang="en-US" dirty="0"/>
              <a:t>被其他碰碰车卡住了。</a:t>
            </a:r>
            <a:r>
              <a:rPr lang="zh-CN" altLang="en-US" b="1" dirty="0"/>
              <a:t>（</a:t>
            </a:r>
            <a:r>
              <a:rPr lang="en-US" altLang="zh-CN" b="1" dirty="0"/>
              <a:t>6.75%</a:t>
            </a:r>
            <a:r>
              <a:rPr lang="zh-CN" altLang="en-US" b="1" dirty="0"/>
              <a:t>）</a:t>
            </a:r>
            <a:endParaRPr lang="zh-CN" altLang="en-US" dirty="0"/>
          </a:p>
          <a:p>
            <a:r>
              <a:rPr lang="en-US" dirty="0"/>
              <a:t>d) </a:t>
            </a:r>
            <a:r>
              <a:rPr lang="zh-CN" altLang="en-US" dirty="0"/>
              <a:t>正在沿着马路奔跑。</a:t>
            </a:r>
            <a:r>
              <a:rPr lang="zh-CN" altLang="en-US" b="1" dirty="0"/>
              <a:t>（</a:t>
            </a:r>
            <a:r>
              <a:rPr lang="en-US" altLang="zh-CN" b="1" dirty="0"/>
              <a:t>1.39%</a:t>
            </a:r>
            <a:r>
              <a:rPr lang="zh-CN" altLang="en-US" b="1" dirty="0"/>
              <a:t>）</a:t>
            </a:r>
            <a:endParaRPr lang="zh-CN" altLang="en-US" dirty="0"/>
          </a:p>
          <a:p>
            <a:endParaRPr lang="en-US" altLang="zh-CN" b="1" dirty="0"/>
          </a:p>
          <a:p>
            <a:r>
              <a:rPr lang="zh-CN" altLang="en-US" dirty="0"/>
              <a:t>他把生鸡蛋糊倒进锅里。他接下来：</a:t>
            </a:r>
          </a:p>
          <a:p>
            <a:r>
              <a:rPr lang="en-US" dirty="0"/>
              <a:t>a) </a:t>
            </a:r>
            <a:r>
              <a:rPr lang="zh-CN" altLang="en-US" dirty="0"/>
              <a:t>把小锅倒扣在盘子上。</a:t>
            </a:r>
            <a:r>
              <a:rPr lang="zh-CN" altLang="en-US" b="1" dirty="0"/>
              <a:t>（</a:t>
            </a:r>
            <a:r>
              <a:rPr lang="en-US" altLang="zh-CN" b="1" dirty="0"/>
              <a:t>93.48%</a:t>
            </a:r>
            <a:r>
              <a:rPr lang="zh-CN" altLang="en-US" b="1" dirty="0"/>
              <a:t>）</a:t>
            </a:r>
            <a:endParaRPr lang="zh-CN" altLang="en-US" dirty="0"/>
          </a:p>
          <a:p>
            <a:r>
              <a:rPr lang="en-US" dirty="0"/>
              <a:t>b) </a:t>
            </a:r>
            <a:r>
              <a:rPr lang="zh-CN" altLang="en-US" dirty="0"/>
              <a:t>拿起锅晃动，使鸡蛋在锅中移动。</a:t>
            </a:r>
            <a:r>
              <a:rPr lang="zh-CN" altLang="en-US" b="1" dirty="0"/>
              <a:t>（</a:t>
            </a:r>
            <a:r>
              <a:rPr lang="en-US" altLang="zh-CN" b="1" dirty="0"/>
              <a:t>4.94%</a:t>
            </a:r>
            <a:r>
              <a:rPr lang="zh-CN" altLang="en-US" b="1" dirty="0"/>
              <a:t>）</a:t>
            </a:r>
            <a:endParaRPr lang="zh-CN" altLang="en-US" dirty="0"/>
          </a:p>
          <a:p>
            <a:r>
              <a:rPr lang="en-US" dirty="0"/>
              <a:t>c) </a:t>
            </a:r>
            <a:r>
              <a:rPr lang="zh-CN" altLang="en-US" dirty="0"/>
              <a:t>把面团搅拌成风筝状。</a:t>
            </a:r>
            <a:r>
              <a:rPr lang="zh-CN" altLang="en-US" b="1" dirty="0"/>
              <a:t>（</a:t>
            </a:r>
            <a:r>
              <a:rPr lang="en-US" altLang="zh-CN" b="1" dirty="0"/>
              <a:t>1.53%</a:t>
            </a:r>
            <a:r>
              <a:rPr lang="zh-CN" altLang="en-US" b="1" dirty="0"/>
              <a:t>）</a:t>
            </a:r>
            <a:endParaRPr lang="zh-CN" altLang="en-US" dirty="0"/>
          </a:p>
          <a:p>
            <a:r>
              <a:rPr lang="en-US" dirty="0"/>
              <a:t>d) </a:t>
            </a:r>
            <a:r>
              <a:rPr lang="zh-CN" altLang="en-US" dirty="0"/>
              <a:t>在粘合剂下搅动搅拌器。</a:t>
            </a:r>
            <a:r>
              <a:rPr lang="zh-CN" altLang="en-US" b="1" dirty="0"/>
              <a:t>（</a:t>
            </a:r>
            <a:r>
              <a:rPr lang="en-US" altLang="zh-CN" b="1" dirty="0"/>
              <a:t>0.05%</a:t>
            </a:r>
            <a:r>
              <a:rPr lang="zh-CN" altLang="en-US" b="1" dirty="0"/>
              <a:t>）</a:t>
            </a:r>
            <a:endParaRPr lang="zh-CN" altLang="en-US" dirty="0"/>
          </a:p>
          <a:p>
            <a:endParaRPr lang="en-US" altLang="zh-CN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79501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模型可以帮你补全句子吗？ 请为以下语境选择一个最合适的结尾：</a:t>
            </a:r>
          </a:p>
          <a:p>
            <a:endParaRPr lang="zh-CN" altLang="en-US" dirty="0"/>
          </a:p>
          <a:p>
            <a:r>
              <a:rPr lang="zh-CN" altLang="en-US" dirty="0"/>
              <a:t>如何捉蜻蜓：使用带长柄、开口大的中空捕虫网。选择一个直径为 </a:t>
            </a:r>
            <a:r>
              <a:rPr lang="en-US" altLang="zh-CN" dirty="0"/>
              <a:t>18 </a:t>
            </a:r>
            <a:r>
              <a:rPr lang="zh-CN" altLang="en-US" dirty="0"/>
              <a:t>英寸（</a:t>
            </a:r>
            <a:r>
              <a:rPr lang="en-US" altLang="zh-CN" dirty="0"/>
              <a:t>46 </a:t>
            </a:r>
            <a:r>
              <a:rPr lang="zh-CN" altLang="en-US" dirty="0"/>
              <a:t>厘米）或更大的捕虫网。寻找一款手柄足够长的</a:t>
            </a:r>
            <a:r>
              <a:rPr lang="en-US" altLang="zh-CN" dirty="0"/>
              <a:t>……</a:t>
            </a:r>
          </a:p>
          <a:p>
            <a:endParaRPr lang="en-CN" dirty="0"/>
          </a:p>
          <a:p>
            <a:r>
              <a:rPr lang="en-US" b="1" dirty="0"/>
              <a:t>a)</a:t>
            </a:r>
            <a:r>
              <a:rPr lang="en-US" dirty="0"/>
              <a:t> </a:t>
            </a:r>
            <a:r>
              <a:rPr lang="zh-CN" altLang="en-US" dirty="0"/>
              <a:t>将一段丝带绕过手柄一圈。将软管或软管放在网兜上，并用绳子牢牢绑好。</a:t>
            </a:r>
          </a:p>
          <a:p>
            <a:r>
              <a:rPr lang="en-US" b="1" dirty="0"/>
              <a:t>b)</a:t>
            </a:r>
            <a:r>
              <a:rPr lang="en-US" dirty="0"/>
              <a:t> </a:t>
            </a:r>
            <a:r>
              <a:rPr lang="zh-CN" altLang="en-US" dirty="0"/>
              <a:t>用双脚伸入网兜。当你抬起双脚时，身体和头部向前移动。</a:t>
            </a:r>
          </a:p>
          <a:p>
            <a:r>
              <a:rPr lang="en-US" b="1" dirty="0"/>
              <a:t>c)</a:t>
            </a:r>
            <a:r>
              <a:rPr lang="en-US" dirty="0"/>
              <a:t> </a:t>
            </a:r>
            <a:r>
              <a:rPr lang="zh-CN" altLang="en-US" dirty="0"/>
              <a:t>如果可能的话，选择深色的网兜而不是浅色的。深色网兜对蜻蜓来说更难被看见，因此也更难躲避。</a:t>
            </a:r>
          </a:p>
          <a:p>
            <a:r>
              <a:rPr lang="en-US" b="1" dirty="0"/>
              <a:t>d)</a:t>
            </a:r>
            <a:r>
              <a:rPr lang="en-US" dirty="0"/>
              <a:t> </a:t>
            </a:r>
            <a:r>
              <a:rPr lang="zh-CN" altLang="en-US" dirty="0"/>
              <a:t>如果网兜不够结实，无法让你轻松操作，可以使用一端比另一端短的手持网兜。网兜的底部应有一些小孔。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40977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例如，下面的一个例子，</a:t>
            </a:r>
            <a:br>
              <a:rPr lang="zh-CN" altLang="en-US" dirty="0"/>
            </a:br>
            <a:r>
              <a:rPr lang="zh-CN" altLang="en-US" dirty="0"/>
              <a:t>一位女士在户外，身边有一个水桶和一只狗。狗在四处奔跑，试图躲避洗澡。她</a:t>
            </a:r>
            <a:r>
              <a:rPr lang="en-US" altLang="zh-CN" dirty="0"/>
              <a:t>……</a:t>
            </a:r>
            <a:endParaRPr lang="zh-CN" altLang="en-US" dirty="0"/>
          </a:p>
          <a:p>
            <a:r>
              <a:rPr lang="en-US" dirty="0"/>
              <a:t>A. </a:t>
            </a:r>
            <a:r>
              <a:rPr lang="zh-CN" altLang="en-US" dirty="0"/>
              <a:t>用肥皂冲洗水桶，并用吹风机吹干狗的头。</a:t>
            </a:r>
          </a:p>
          <a:p>
            <a:r>
              <a:rPr lang="en-US" dirty="0"/>
              <a:t>B. </a:t>
            </a:r>
            <a:r>
              <a:rPr lang="zh-CN" altLang="en-US" dirty="0"/>
              <a:t>用水管冲水，以防狗弄得全身是泡沫。</a:t>
            </a:r>
          </a:p>
          <a:p>
            <a:r>
              <a:rPr lang="en-US" dirty="0"/>
              <a:t>C. </a:t>
            </a:r>
            <a:r>
              <a:rPr lang="zh-CN" altLang="en-US" dirty="0"/>
              <a:t>把狗弄湿了，然后狗又跑开了。</a:t>
            </a:r>
          </a:p>
          <a:p>
            <a:r>
              <a:rPr lang="en-US" dirty="0"/>
              <a:t>D. </a:t>
            </a:r>
            <a:r>
              <a:rPr lang="zh-CN" altLang="en-US" dirty="0"/>
              <a:t>和狗一起进了浴缸。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05232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这是一个词语预测任务。</a:t>
            </a:r>
            <a:r>
              <a:rPr lang="en-US" dirty="0"/>
              <a:t>LAMBADA </a:t>
            </a:r>
            <a:r>
              <a:rPr lang="zh-CN" altLang="en-US" dirty="0"/>
              <a:t>是一个叙述性文本片段的集合，其特点是：如果人类读者能够看到整个段落，他们通常能猜出最后一个词；但如果他们只能看到目标词前的最后一句话，则无法做出准确预测。</a:t>
            </a:r>
          </a:p>
          <a:p>
            <a:r>
              <a:rPr lang="zh-CN" altLang="en-US" dirty="0"/>
              <a:t>该数据集由一系列叙述性文本片段组成，任务是预测最后一个词。</a:t>
            </a:r>
          </a:p>
          <a:p>
            <a:r>
              <a:rPr lang="zh-CN" altLang="en-US" dirty="0"/>
              <a:t>人类读者在通读整个段落的情况下可以猜出该词，但如果只看到包含该词的最后一句，则难以预测。</a:t>
            </a:r>
          </a:p>
          <a:p>
            <a:r>
              <a:rPr lang="zh-CN" altLang="en-US" dirty="0"/>
              <a:t>训练数据来自 </a:t>
            </a:r>
            <a:r>
              <a:rPr lang="en-US" dirty="0" err="1"/>
              <a:t>BookCorpus</a:t>
            </a:r>
            <a:r>
              <a:rPr lang="en-US" dirty="0"/>
              <a:t>，</a:t>
            </a:r>
            <a:r>
              <a:rPr lang="zh-CN" altLang="en-US" dirty="0"/>
              <a:t>包括 </a:t>
            </a:r>
            <a:r>
              <a:rPr lang="en-US" altLang="zh-CN" dirty="0"/>
              <a:t>1 </a:t>
            </a:r>
            <a:r>
              <a:rPr lang="zh-CN" altLang="en-US" dirty="0"/>
              <a:t>万个段落。</a:t>
            </a:r>
          </a:p>
          <a:p>
            <a:r>
              <a:rPr lang="zh-CN" altLang="en-US" dirty="0"/>
              <a:t>该任务通过预测最后一个词来评估模型对长距离依赖的建模能力，旨在测试模型对文本中长程依赖关系的处理能力。</a:t>
            </a:r>
          </a:p>
          <a:p>
            <a:endParaRPr lang="en-CN" dirty="0"/>
          </a:p>
          <a:p>
            <a:endParaRPr lang="en-US" altLang="zh-CN" dirty="0"/>
          </a:p>
          <a:p>
            <a:r>
              <a:rPr lang="zh-CN" altLang="en-US" dirty="0"/>
              <a:t>语境：</a:t>
            </a:r>
          </a:p>
          <a:p>
            <a:r>
              <a:rPr lang="zh-CN" altLang="en-US" dirty="0"/>
              <a:t>“为什么？”“我原以为你会觉得他有点乏味，”她说。</a:t>
            </a:r>
          </a:p>
          <a:p>
            <a:r>
              <a:rPr lang="zh-CN" altLang="en-US" dirty="0"/>
              <a:t>“我不这么认为，”加布里埃尔说。</a:t>
            </a:r>
          </a:p>
          <a:p>
            <a:r>
              <a:rPr lang="zh-CN" altLang="en-US" dirty="0"/>
              <a:t>“他是个伟大的工匠，”希瑟说。</a:t>
            </a:r>
          </a:p>
          <a:p>
            <a:r>
              <a:rPr lang="zh-CN" altLang="en-US" dirty="0"/>
              <a:t>“确实如此，”弗兰纳里说。</a:t>
            </a:r>
          </a:p>
          <a:p>
            <a:br>
              <a:rPr lang="zh-CN" altLang="en-US" dirty="0"/>
            </a:br>
            <a:r>
              <a:rPr lang="zh-CN" altLang="en-US" dirty="0"/>
              <a:t>目标句：</a:t>
            </a:r>
          </a:p>
          <a:p>
            <a:r>
              <a:rPr lang="zh-CN" altLang="en-US" dirty="0"/>
              <a:t>“而且还是波兰人，”</a:t>
            </a:r>
            <a:r>
              <a:rPr lang="en-US" altLang="zh-CN" dirty="0"/>
              <a:t>__</a:t>
            </a:r>
            <a:r>
              <a:rPr lang="zh-CN" altLang="en-US" dirty="0"/>
              <a:t>说。</a:t>
            </a:r>
          </a:p>
          <a:p>
            <a:endParaRPr lang="zh-CN" altLang="en-US" dirty="0"/>
          </a:p>
          <a:p>
            <a:r>
              <a:rPr lang="zh-CN" altLang="en-US" dirty="0"/>
              <a:t>目标词应该是 </a:t>
            </a:r>
            <a:r>
              <a:rPr lang="en-US" dirty="0"/>
              <a:t>Gabriel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9801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大规模多任务语言理解评测（</a:t>
            </a:r>
            <a:r>
              <a:rPr lang="en-US" dirty="0"/>
              <a:t>Measuring Massive Multitask Language </a:t>
            </a:r>
            <a:r>
              <a:rPr lang="en-US" dirty="0" err="1"/>
              <a:t>Understanding，MMLU</a:t>
            </a:r>
            <a:r>
              <a:rPr lang="en-US" dirty="0"/>
              <a:t>）：</a:t>
            </a:r>
          </a:p>
          <a:p>
            <a:r>
              <a:rPr lang="zh-CN" altLang="en-US" dirty="0"/>
              <a:t>涵盖 </a:t>
            </a:r>
            <a:r>
              <a:rPr lang="en-US" altLang="zh-CN" dirty="0"/>
              <a:t>57 </a:t>
            </a:r>
            <a:r>
              <a:rPr lang="zh-CN" altLang="en-US" dirty="0"/>
              <a:t>个学科（包括专业类和学术类）的多项选择题。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89104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AI2 </a:t>
            </a:r>
            <a:r>
              <a:rPr lang="zh-CN" altLang="en-US" dirty="0"/>
              <a:t>推理挑战（</a:t>
            </a:r>
            <a:r>
              <a:rPr lang="en-US" dirty="0"/>
              <a:t>AI2 Reasoning </a:t>
            </a:r>
            <a:r>
              <a:rPr lang="en-US" dirty="0" err="1"/>
              <a:t>Challenge，ARC</a:t>
            </a:r>
            <a:r>
              <a:rPr lang="en-US" dirty="0"/>
              <a:t>）：</a:t>
            </a:r>
          </a:p>
          <a:p>
            <a:r>
              <a:rPr lang="zh-CN" altLang="en-US" dirty="0"/>
              <a:t>一项面向小学阶段的多项选择题科学测验任务。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040110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围绕代词消解的常识推理任务（</a:t>
            </a:r>
            <a:r>
              <a:rPr lang="en-US" dirty="0" err="1"/>
              <a:t>WinoGrande</a:t>
            </a:r>
            <a:r>
              <a:rPr lang="en-US" dirty="0"/>
              <a:t>）。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837154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对段落内容进行离散推理的任务（</a:t>
            </a:r>
            <a:r>
              <a:rPr lang="en-US" dirty="0" err="1"/>
              <a:t>DROP，Discrete</a:t>
            </a:r>
            <a:r>
              <a:rPr lang="en-US" dirty="0"/>
              <a:t> Reasoning Over the content of Paragraphs）。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795590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10832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语言最小对立基准集（</a:t>
            </a:r>
            <a:r>
              <a:rPr lang="en-US" dirty="0"/>
              <a:t>The Benchmark of Linguistic Minimal </a:t>
            </a:r>
            <a:r>
              <a:rPr lang="en-US" dirty="0" err="1"/>
              <a:t>Pairs，BLiMP</a:t>
            </a:r>
            <a:r>
              <a:rPr lang="en-US" dirty="0"/>
              <a:t>）：</a:t>
            </a:r>
          </a:p>
          <a:p>
            <a:r>
              <a:rPr lang="zh-CN" altLang="en-US" dirty="0"/>
              <a:t>一个用于评估语言模型（</a:t>
            </a:r>
            <a:r>
              <a:rPr lang="en-US" dirty="0"/>
              <a:t>LMs）</a:t>
            </a:r>
            <a:r>
              <a:rPr lang="zh-CN" altLang="en-US" dirty="0"/>
              <a:t>在英语主要语法现象上的语言知识的挑战性数据集。</a:t>
            </a: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4C5D-8905-4D81-BE92-D035E374EA63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1357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E03284-647F-470C-AE41-2C3FA78D751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solidFill>
            <a:schemeClr val="accent1"/>
          </a:solidFill>
        </p:spPr>
        <p:txBody>
          <a:bodyPr anchor="b">
            <a:normAutofit/>
          </a:bodyPr>
          <a:lstStyle>
            <a:lvl1pPr algn="ctr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Introduction to NLP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82747E6-4E72-4435-AB9D-9122E0C57BC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 dirty="0"/>
              <a:t>Baojian Zhou</a:t>
            </a:r>
          </a:p>
          <a:p>
            <a:r>
              <a:rPr lang="en-US" altLang="zh-CN" dirty="0"/>
              <a:t>School of Data Science, Fudan University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C91BB9-1D1F-408E-9F55-1C077A94A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881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5BD662-EB3C-4EAF-9A3A-38E08CA48E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9087" y="265109"/>
            <a:ext cx="11553826" cy="610388"/>
          </a:xfrm>
          <a:noFill/>
        </p:spPr>
        <p:txBody>
          <a:bodyPr>
            <a:noAutofit/>
          </a:bodyPr>
          <a:lstStyle>
            <a:lvl1pPr>
              <a:defRPr sz="4000" b="1">
                <a:solidFill>
                  <a:srgbClr val="0E419C"/>
                </a:solidFill>
              </a:defRPr>
            </a:lvl1pPr>
          </a:lstStyle>
          <a:p>
            <a:r>
              <a:rPr lang="en-US" altLang="zh-CN" dirty="0"/>
              <a:t>This is a test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A57540-AA61-4F49-8204-5904B128EF9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2497" y="984642"/>
            <a:ext cx="11064875" cy="5508233"/>
          </a:xfrm>
        </p:spPr>
        <p:txBody>
          <a:bodyPr/>
          <a:lstStyle>
            <a:lvl1pPr>
              <a:lnSpc>
                <a:spcPct val="100000"/>
              </a:lnSpc>
              <a:spcAft>
                <a:spcPts val="1800"/>
              </a:spcAft>
              <a:defRPr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Aft>
                <a:spcPts val="1800"/>
              </a:spcAft>
              <a:defRPr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Aft>
                <a:spcPts val="1800"/>
              </a:spcAft>
              <a:defRPr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Aft>
                <a:spcPts val="1800"/>
              </a:spcAft>
              <a:defRPr>
                <a:solidFill>
                  <a:schemeClr val="tx1"/>
                </a:solidFill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This is a test.</a:t>
            </a:r>
            <a:endParaRPr lang="zh-CN" altLang="en-US" dirty="0"/>
          </a:p>
          <a:p>
            <a:pPr lvl="1"/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test.</a:t>
            </a:r>
            <a:endParaRPr lang="zh-CN" altLang="en-US" dirty="0"/>
          </a:p>
          <a:p>
            <a:pPr lvl="2"/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test</a:t>
            </a:r>
            <a:endParaRPr lang="zh-CN" altLang="en-US" dirty="0"/>
          </a:p>
          <a:p>
            <a:pPr lvl="3"/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test.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D65E4C-D95C-4051-9F7B-78194BD2D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492875"/>
            <a:ext cx="609598" cy="365125"/>
          </a:xfrm>
        </p:spPr>
        <p:txBody>
          <a:bodyPr/>
          <a:lstStyle/>
          <a:p>
            <a:fld id="{DC8BB421-126E-41CB-B73A-69D52E98CAE3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22162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D65E4C-D95C-4051-9F7B-78194BD2D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492875"/>
            <a:ext cx="609598" cy="365125"/>
          </a:xfrm>
        </p:spPr>
        <p:txBody>
          <a:bodyPr/>
          <a:lstStyle/>
          <a:p>
            <a:fld id="{DC8BB421-126E-41CB-B73A-69D52E98CAE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5CE11DDF-65F3-45D5-B724-62F94032D6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1720850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内容占位符 3">
            <a:extLst>
              <a:ext uri="{FF2B5EF4-FFF2-40B4-BE49-F238E27FC236}">
                <a16:creationId xmlns:a16="http://schemas.microsoft.com/office/drawing/2014/main" id="{96484387-4DE1-4B3F-9BF4-D38DF06132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8400" y="1720850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0F00D199-7DD3-488F-BEEF-DF09657F7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675" y="66676"/>
            <a:ext cx="12049125" cy="610388"/>
          </a:xfrm>
          <a:noFill/>
        </p:spPr>
        <p:txBody>
          <a:bodyPr>
            <a:noAutofit/>
          </a:bodyPr>
          <a:lstStyle>
            <a:lvl1pPr>
              <a:defRPr sz="4000" b="1">
                <a:solidFill>
                  <a:srgbClr val="0E419C"/>
                </a:solidFill>
              </a:defRPr>
            </a:lvl1pPr>
          </a:lstStyle>
          <a:p>
            <a:r>
              <a:rPr lang="en-US" altLang="zh-CN" dirty="0"/>
              <a:t>This is a test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23127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8D4B963-4689-4C0B-A3E7-5D0A516F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229"/>
            <a:ext cx="12191998" cy="5540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/>
              <a:t>This is a test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2EC4EC-EEC9-4E2B-8910-81CDFB604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" y="567267"/>
            <a:ext cx="12191998" cy="59256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This is a test</a:t>
            </a:r>
            <a:endParaRPr lang="zh-CN" altLang="en-US" dirty="0"/>
          </a:p>
          <a:p>
            <a:pPr lvl="1"/>
            <a:r>
              <a:rPr lang="en-US" altLang="zh-CN" dirty="0"/>
              <a:t>This is a test</a:t>
            </a:r>
            <a:endParaRPr lang="zh-CN" altLang="en-US" dirty="0"/>
          </a:p>
          <a:p>
            <a:pPr lvl="2"/>
            <a:r>
              <a:rPr lang="en-US" altLang="zh-CN" dirty="0"/>
              <a:t>This is a test</a:t>
            </a:r>
            <a:endParaRPr lang="zh-CN" altLang="en-US" dirty="0"/>
          </a:p>
          <a:p>
            <a:pPr lvl="3"/>
            <a:r>
              <a:rPr lang="en-US" altLang="zh-CN" dirty="0"/>
              <a:t>This is a test</a:t>
            </a:r>
            <a:endParaRPr lang="zh-CN" altLang="en-US" dirty="0"/>
          </a:p>
          <a:p>
            <a:pPr lvl="4"/>
            <a:r>
              <a:rPr lang="en-US" altLang="zh-CN" dirty="0"/>
              <a:t>This is a test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1C9E46-0E5F-49EF-B30B-D978E95AB6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16266" y="6492875"/>
            <a:ext cx="575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8BB421-126E-41CB-B73A-69D52E98CA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7919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noopsarkar.github.io/nlp-class/syllabus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luebenchmark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uggingface.co/datasets/nyu-mll/glue" TargetMode="External"/><Relationship Id="rId5" Type="http://schemas.openxmlformats.org/officeDocument/2006/relationships/image" Target="../media/image1.png"/><Relationship Id="rId4" Type="http://schemas.openxmlformats.org/officeDocument/2006/relationships/hyperlink" Target="https://arxiv.org/abs/1804.07461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luebenchmark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huggingface.co/datasets/nyu-mll/glue" TargetMode="Externa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805.12471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huggingface.co/datasets/nyu-mll/glue" TargetMode="Externa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clanthology.org/D13-1170.pdf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uggingface.co/datasets/nyu-mll/glue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clanthology.org/I05-5002.pdf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huggingface.co/datasets/nyu-mll/glue" TargetMode="Externa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708.00055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/quora-question-pairs/overview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704.05426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606.05250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iteseerx.ist.psu.edu/document?repid=rep1&amp;type=pdf&amp;doi=9746994d09b5bf6c40bee3693ee8678e191f84b8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cdn.aaai.org/ocs/4492/4492-21843-1-PB.pdf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uper.gluebenchmark.com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huggingface.co/datasets/aps/super_glue" TargetMode="Externa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905.10044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uggingface.co/datasets/aps/super_glue" TargetMode="Externa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cdm/CommitmentBank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aclanthology.org/W07-1401.pdf" TargetMode="External"/><Relationship Id="rId7" Type="http://schemas.openxmlformats.org/officeDocument/2006/relationships/image" Target="../media/image19.png"/><Relationship Id="rId2" Type="http://schemas.openxmlformats.org/officeDocument/2006/relationships/hyperlink" Target="https://link.springer.com/chapter/10.1007/11736790_9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5.png"/><Relationship Id="rId4" Type="http://schemas.openxmlformats.org/officeDocument/2006/relationships/hyperlink" Target="https://citeseerx.ist.psu.edu/document?repid=rep1&amp;type=pdf&amp;doi=9746994d09b5bf6c40bee3693ee8678e191f84b8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808.09121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uggingface.co/datasets/allenai/swag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uggingface.co/datasets/allenai/swag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905.07830" TargetMode="External"/><Relationship Id="rId7" Type="http://schemas.openxmlformats.org/officeDocument/2006/relationships/hyperlink" Target="https://huggingface.co/datasets/Rowan/hellaswag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huggingface.co/datasets/Rowan/hellaswag" TargetMode="External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uggingface.co/datasets/Rowan/hellaswag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datasets/Rowan/hellaswag" TargetMode="Externa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606.06031" TargetMode="External"/><Relationship Id="rId7" Type="http://schemas.openxmlformats.org/officeDocument/2006/relationships/hyperlink" Target="https://huggingface.co/datasets/cimec/lambada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zenodo.org/records/2630551" TargetMode="Externa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hyperlink" Target="https://arxiv.org/pdf/2009.03300" TargetMode="External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803.05457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uggingface.co/datasets/allenai/ai2_arc" TargetMode="Externa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dl.acm.org/doi/pdf/10.1145/3474381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uggingface.co/datasets/allenai/winogrande" TargetMode="External"/><Relationship Id="rId5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903.00161" TargetMode="External"/><Relationship Id="rId7" Type="http://schemas.openxmlformats.org/officeDocument/2006/relationships/hyperlink" Target="https://huggingface.co/datasets/ucinlp/drop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hyperlink" Target="https://arxiv.org/pdf/1611.01603" TargetMode="External"/><Relationship Id="rId4" Type="http://schemas.openxmlformats.org/officeDocument/2006/relationships/image" Target="../media/image4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110.14168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uggingface.co/datasets/openai/gsm8k" TargetMode="External"/><Relationship Id="rId5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pdf/1912.00582" TargetMode="Externa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aclanthology.org/D13-1160.pdf" TargetMode="External"/><Relationship Id="rId2" Type="http://schemas.openxmlformats.org/officeDocument/2006/relationships/hyperlink" Target="https://direct.mit.edu/tacl/article/doi/10.1162/tacl_a_00276/43518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tanfordnlp.github.io/coqa/" TargetMode="External"/><Relationship Id="rId4" Type="http://schemas.openxmlformats.org/officeDocument/2006/relationships/hyperlink" Target="https://nlp.cs.washington.edu/triviaqa/" TargetMode="Externa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hyperlink" Target="https://huggingface.co/datasets/dart" TargetMode="External"/><Relationship Id="rId3" Type="http://schemas.openxmlformats.org/officeDocument/2006/relationships/hyperlink" Target="https://github.com/salesforce/booksum" TargetMode="External"/><Relationship Id="rId7" Type="http://schemas.openxmlformats.org/officeDocument/2006/relationships/hyperlink" Target="https://huggingface.co/datasets/web_nlg" TargetMode="External"/><Relationship Id="rId2" Type="http://schemas.openxmlformats.org/officeDocument/2006/relationships/hyperlink" Target="https://huggingface.co/datasets/cnn_dailymai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tuetschek/e2e-dataset" TargetMode="External"/><Relationship Id="rId5" Type="http://schemas.openxmlformats.org/officeDocument/2006/relationships/hyperlink" Target="https://paperswithcode.com/dataset/duc-2004" TargetMode="External"/><Relationship Id="rId4" Type="http://schemas.openxmlformats.org/officeDocument/2006/relationships/hyperlink" Target="https://paperswithcode.com/dataset/new-york-times-annotated-corpus" TargetMode="Externa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atmt.org/wmt14/index.html" TargetMode="External"/><Relationship Id="rId2" Type="http://schemas.openxmlformats.org/officeDocument/2006/relationships/hyperlink" Target="https://github.com/facebookresearch/flore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clanthology.org/L16-1521.pdf" TargetMode="External"/><Relationship Id="rId4" Type="http://schemas.openxmlformats.org/officeDocument/2006/relationships/hyperlink" Target="https://github.com/Helsinki-NLP/Opus-MT" TargetMode="Externa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paperswithcode.com/dataset/aida-conll-yago" TargetMode="External"/><Relationship Id="rId7" Type="http://schemas.openxmlformats.org/officeDocument/2006/relationships/hyperlink" Target="https://aclanthology.org/2020.lrec-1.521/" TargetMode="External"/><Relationship Id="rId2" Type="http://schemas.openxmlformats.org/officeDocument/2006/relationships/hyperlink" Target="https://www.conll.org/2023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ature.com/articles/s41597-022-01338-x" TargetMode="External"/><Relationship Id="rId5" Type="http://schemas.openxmlformats.org/officeDocument/2006/relationships/hyperlink" Target="https://propbank.github.io/" TargetMode="External"/><Relationship Id="rId4" Type="http://schemas.openxmlformats.org/officeDocument/2006/relationships/hyperlink" Target="https://github.com/chanzuckerberg/MedMentions" TargetMode="Externa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hyperlink" Target="https://arxiv.org/pdf/2104.14337" TargetMode="Externa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hyperlink" Target="https://contextual.ai/plotting-progress-in-ai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hyperlink" Target="https://arxiv.org/pdf/2210.09261" TargetMode="External"/><Relationship Id="rId4" Type="http://schemas.openxmlformats.org/officeDocument/2006/relationships/image" Target="../media/image4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hyperlink" Target="https://arcprize.org/" TargetMode="Externa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hyperlink" Target="https://allenai.org/data/arc" TargetMode="External"/><Relationship Id="rId3" Type="http://schemas.openxmlformats.org/officeDocument/2006/relationships/hyperlink" Target="https://dl.acm.org/doi/full/10.1145/3641289?casa_token=YP6WMzEKt8oAAAAA%3ALdvlLGbDcfn_yRZSBAG638ZRUyUoxYFr7_j63WpMaZ_rMQDJqvP8YCvh9FIlgf3Zkt0R7yBdimo9" TargetMode="External"/><Relationship Id="rId7" Type="http://schemas.openxmlformats.org/officeDocument/2006/relationships/hyperlink" Target="https://rowanzellers.com/swag/" TargetMode="External"/><Relationship Id="rId2" Type="http://schemas.openxmlformats.org/officeDocument/2006/relationships/hyperlink" Target="https://anoopsarkar.github.io/nlp-class/assets/slides/benchmarks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owanzellers.com/hellaswag/" TargetMode="External"/><Relationship Id="rId11" Type="http://schemas.openxmlformats.org/officeDocument/2006/relationships/hyperlink" Target="https://crfm.stanford.edu/helm/mmlu/latest/#/leaderboard" TargetMode="External"/><Relationship Id="rId5" Type="http://schemas.openxmlformats.org/officeDocument/2006/relationships/hyperlink" Target="https://arxiv.org/pdf/2303.08774" TargetMode="External"/><Relationship Id="rId10" Type="http://schemas.openxmlformats.org/officeDocument/2006/relationships/hyperlink" Target="https://allenai.org/data/drop" TargetMode="External"/><Relationship Id="rId4" Type="http://schemas.openxmlformats.org/officeDocument/2006/relationships/hyperlink" Target="https://decanlp.com/" TargetMode="External"/><Relationship Id="rId9" Type="http://schemas.openxmlformats.org/officeDocument/2006/relationships/hyperlink" Target="https://winogrande.allenai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9DC680-57FE-4360-8D62-7C774E5AB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5600" y="856354"/>
            <a:ext cx="10810666" cy="1422073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0E419C"/>
                </a:solidFill>
              </a:rPr>
              <a:t>Lecture 07 –</a:t>
            </a:r>
            <a:r>
              <a:rPr lang="zh-CN" altLang="en-US" dirty="0">
                <a:solidFill>
                  <a:srgbClr val="0E419C"/>
                </a:solidFill>
              </a:rPr>
              <a:t> </a:t>
            </a:r>
            <a:r>
              <a:rPr lang="en-US" altLang="zh-CN" dirty="0">
                <a:solidFill>
                  <a:srgbClr val="0E419C"/>
                </a:solidFill>
              </a:rPr>
              <a:t>Benchmarks</a:t>
            </a:r>
            <a:endParaRPr lang="zh-CN" altLang="en-US" dirty="0">
              <a:solidFill>
                <a:srgbClr val="0E419C"/>
              </a:solidFill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7BA0913-FFCB-4BC5-85DA-4B598BB8D3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2585338"/>
            <a:ext cx="9144000" cy="2286000"/>
          </a:xfrm>
          <a:solidFill>
            <a:schemeClr val="bg1"/>
          </a:solidFill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E419C"/>
                </a:solidFill>
              </a:rPr>
              <a:t>Baojian Zhou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E419C"/>
                </a:solidFill>
              </a:rPr>
              <a:t>DATA130030.01 (</a:t>
            </a:r>
            <a:r>
              <a:rPr lang="zh-CN" altLang="en-US" sz="2000" dirty="0">
                <a:solidFill>
                  <a:srgbClr val="0E419C"/>
                </a:solidFill>
              </a:rPr>
              <a:t>自然语言处理</a:t>
            </a:r>
            <a:r>
              <a:rPr lang="en-US" altLang="zh-CN" sz="2000" dirty="0">
                <a:solidFill>
                  <a:srgbClr val="0E419C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E419C"/>
                </a:solidFill>
              </a:rPr>
              <a:t>School of Data Science Fudan University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E419C"/>
                </a:solidFill>
              </a:rPr>
              <a:t>10/29/2025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85388F10-FFAF-40CE-8463-CBC710995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FEE6ED-869D-F94C-AAD9-12D5CBFBF886}"/>
              </a:ext>
            </a:extLst>
          </p:cNvPr>
          <p:cNvSpPr txBox="1"/>
          <p:nvPr/>
        </p:nvSpPr>
        <p:spPr>
          <a:xfrm>
            <a:off x="9020501" y="6185098"/>
            <a:ext cx="30731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Largely</a:t>
            </a:r>
            <a:r>
              <a:rPr lang="zh-CN" altLang="en-US" sz="1400" dirty="0"/>
              <a:t> </a:t>
            </a:r>
            <a:r>
              <a:rPr lang="en-US" altLang="zh-CN" sz="1400" dirty="0"/>
              <a:t>Adopted</a:t>
            </a:r>
            <a:r>
              <a:rPr lang="zh-CN" altLang="en-US" sz="1400" dirty="0"/>
              <a:t> </a:t>
            </a:r>
            <a:r>
              <a:rPr lang="en-US" altLang="zh-CN" sz="1400" dirty="0"/>
              <a:t>from</a:t>
            </a:r>
            <a:r>
              <a:rPr lang="zh-CN" altLang="en-US" sz="1400" dirty="0"/>
              <a:t> </a:t>
            </a:r>
            <a:r>
              <a:rPr lang="en-US" sz="1400" dirty="0">
                <a:hlinkClick r:id="rId3"/>
              </a:rPr>
              <a:t>Anoop Sarkar</a:t>
            </a:r>
            <a:endParaRPr lang="en-CN" sz="1400" dirty="0"/>
          </a:p>
        </p:txBody>
      </p:sp>
    </p:spTree>
    <p:extLst>
      <p:ext uri="{BB962C8B-B14F-4D97-AF65-F5344CB8AC3E}">
        <p14:creationId xmlns:p14="http://schemas.microsoft.com/office/powerpoint/2010/main" val="241672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FE0D9-688C-F55D-A708-0713947B9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7605E-6E5F-8CEC-C213-1A7018A86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zh-CN" sz="4000" b="1" dirty="0"/>
              <a:t>GLUE/SuperGLUE</a:t>
            </a:r>
          </a:p>
          <a:p>
            <a:pPr>
              <a:lnSpc>
                <a:spcPct val="150000"/>
              </a:lnSpc>
            </a:pPr>
            <a:r>
              <a:rPr lang="en-US" altLang="zh-CN" sz="4000" b="1" dirty="0">
                <a:solidFill>
                  <a:schemeClr val="bg2">
                    <a:lumMod val="90000"/>
                  </a:schemeClr>
                </a:solidFill>
              </a:rPr>
              <a:t>SWAG/HellaSWAG</a:t>
            </a:r>
          </a:p>
          <a:p>
            <a:pPr>
              <a:lnSpc>
                <a:spcPct val="150000"/>
              </a:lnSpc>
            </a:pPr>
            <a:r>
              <a:rPr lang="en-US" altLang="zh-CN" sz="4000" b="1" dirty="0">
                <a:solidFill>
                  <a:schemeClr val="bg2">
                    <a:lumMod val="90000"/>
                  </a:schemeClr>
                </a:solidFill>
              </a:rPr>
              <a:t>Lambada</a:t>
            </a:r>
          </a:p>
          <a:p>
            <a:pPr>
              <a:lnSpc>
                <a:spcPct val="150000"/>
              </a:lnSpc>
            </a:pPr>
            <a:r>
              <a:rPr lang="en-US" altLang="zh-CN" sz="4000" b="1" dirty="0">
                <a:solidFill>
                  <a:schemeClr val="bg2">
                    <a:lumMod val="90000"/>
                  </a:schemeClr>
                </a:solidFill>
              </a:rPr>
              <a:t>Other</a:t>
            </a:r>
            <a:r>
              <a:rPr lang="zh-CN" altLang="en-US" sz="40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altLang="zh-CN" sz="4000" b="1" dirty="0">
                <a:solidFill>
                  <a:schemeClr val="bg2">
                    <a:lumMod val="90000"/>
                  </a:schemeClr>
                </a:solidFill>
              </a:rPr>
              <a:t>datasets</a:t>
            </a:r>
          </a:p>
          <a:p>
            <a:pPr>
              <a:lnSpc>
                <a:spcPct val="150000"/>
              </a:lnSpc>
            </a:pPr>
            <a:r>
              <a:rPr lang="en-US" altLang="zh-CN" sz="4000" b="1" dirty="0">
                <a:solidFill>
                  <a:schemeClr val="bg2">
                    <a:lumMod val="90000"/>
                  </a:schemeClr>
                </a:solidFill>
              </a:rPr>
              <a:t>Datasets</a:t>
            </a:r>
            <a:r>
              <a:rPr lang="zh-CN" altLang="en-US" sz="40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altLang="zh-CN" sz="4000" b="1" dirty="0">
                <a:solidFill>
                  <a:schemeClr val="bg2">
                    <a:lumMod val="90000"/>
                  </a:schemeClr>
                </a:solidFill>
              </a:rPr>
              <a:t>by</a:t>
            </a:r>
            <a:r>
              <a:rPr lang="zh-CN" altLang="en-US" sz="40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altLang="zh-CN" sz="4000" b="1" dirty="0">
                <a:solidFill>
                  <a:schemeClr val="bg2">
                    <a:lumMod val="90000"/>
                  </a:schemeClr>
                </a:solidFill>
              </a:rPr>
              <a:t>task</a:t>
            </a:r>
            <a:r>
              <a:rPr lang="zh-CN" altLang="en-US" sz="40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altLang="zh-CN" sz="4000" b="1" dirty="0">
                <a:solidFill>
                  <a:schemeClr val="bg2">
                    <a:lumMod val="90000"/>
                  </a:schemeClr>
                </a:solidFill>
              </a:rPr>
              <a:t>types</a:t>
            </a:r>
            <a:endParaRPr lang="en-CN" sz="4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0A055-08BD-4EFD-ED7B-AADE9047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51105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199D8-21BE-E34C-ADAA-3A966DD1E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GLUE</a:t>
            </a:r>
            <a:r>
              <a:rPr lang="zh-CN" altLang="en-US" dirty="0"/>
              <a:t> </a:t>
            </a:r>
            <a:r>
              <a:rPr lang="en-US" altLang="zh-CN" sz="2800" dirty="0">
                <a:hlinkClick r:id="rId3"/>
              </a:rPr>
              <a:t>https://gluebenchmark.com/</a:t>
            </a:r>
            <a:r>
              <a:rPr lang="zh-CN" altLang="en-US" sz="2800" dirty="0"/>
              <a:t> 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19343-3598-BA4C-8C5A-26FE6D7DA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494" y="878129"/>
            <a:ext cx="10544158" cy="180607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General Language Understanding Evaluation</a:t>
            </a:r>
            <a:r>
              <a:rPr lang="zh-CN" altLang="en-US" dirty="0"/>
              <a:t> </a:t>
            </a:r>
            <a:r>
              <a:rPr lang="en-US" dirty="0"/>
              <a:t>(GLUE) benchmark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A collection of NLU tasks including </a:t>
            </a:r>
            <a:r>
              <a:rPr lang="en-US" altLang="zh-CN" dirty="0"/>
              <a:t>QA</a:t>
            </a:r>
            <a:r>
              <a:rPr lang="en-US" dirty="0"/>
              <a:t>, sentiment analysis,</a:t>
            </a:r>
            <a:r>
              <a:rPr lang="zh-CN" altLang="en-US" dirty="0"/>
              <a:t> </a:t>
            </a:r>
            <a:r>
              <a:rPr lang="en-US" dirty="0"/>
              <a:t>and textual entailment, and an associated online platform for model evaluation, comparison, and</a:t>
            </a:r>
            <a:r>
              <a:rPr lang="zh-CN" altLang="en-US" dirty="0"/>
              <a:t> </a:t>
            </a:r>
            <a:r>
              <a:rPr lang="en-US" dirty="0"/>
              <a:t>analysis.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43AF8-BCB6-764F-AE23-FF070807D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3</a:t>
            </a:fld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DFD237-BB82-3B4C-BDD1-129A386353F0}"/>
              </a:ext>
            </a:extLst>
          </p:cNvPr>
          <p:cNvSpPr txBox="1"/>
          <p:nvPr/>
        </p:nvSpPr>
        <p:spPr>
          <a:xfrm>
            <a:off x="5680381" y="3728885"/>
            <a:ext cx="604146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Wang, Alex, Amanpreet Singh, Julian Michael, Felix Hill, Omer Levy, and Samuel R. Bowman. “</a:t>
            </a:r>
            <a:r>
              <a:rPr lang="en-US" sz="2000" dirty="0">
                <a:hlinkClick r:id="rId4"/>
              </a:rPr>
              <a:t>GLUE: A multi-task benchmark and analysis platform for natural language understanding</a:t>
            </a:r>
            <a:r>
              <a:rPr lang="en-US" sz="2000" dirty="0"/>
              <a:t>.”</a:t>
            </a:r>
            <a:r>
              <a:rPr lang="en-US" altLang="zh-CN" sz="2000" dirty="0"/>
              <a:t>,</a:t>
            </a:r>
            <a:r>
              <a:rPr lang="zh-CN" altLang="en-US" sz="2000" dirty="0"/>
              <a:t> </a:t>
            </a:r>
            <a:r>
              <a:rPr lang="en-US" sz="2000" dirty="0"/>
              <a:t>2018</a:t>
            </a:r>
            <a:endParaRPr lang="en-CN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5F2E45-3A62-2847-B8EC-41CE5193E3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144" y="2763750"/>
            <a:ext cx="4336936" cy="37291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1BDC77-EB48-57E8-ACB2-4ED2D0983253}"/>
              </a:ext>
            </a:extLst>
          </p:cNvPr>
          <p:cNvSpPr txBox="1"/>
          <p:nvPr/>
        </p:nvSpPr>
        <p:spPr>
          <a:xfrm>
            <a:off x="7678882" y="6423614"/>
            <a:ext cx="42665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600" dirty="0">
                <a:hlinkClick r:id="rId6"/>
              </a:rPr>
              <a:t>https://huggingface.co/datasets/nyu-mll/glue</a:t>
            </a:r>
            <a:r>
              <a:rPr lang="zh-CN" altLang="en-US" sz="1600" dirty="0"/>
              <a:t> </a:t>
            </a:r>
            <a:endParaRPr lang="en-CN" sz="1600" dirty="0"/>
          </a:p>
        </p:txBody>
      </p:sp>
    </p:spTree>
    <p:extLst>
      <p:ext uri="{BB962C8B-B14F-4D97-AF65-F5344CB8AC3E}">
        <p14:creationId xmlns:p14="http://schemas.microsoft.com/office/powerpoint/2010/main" val="2900468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199D8-21BE-E34C-ADAA-3A966DD1E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GLUE</a:t>
            </a:r>
            <a:r>
              <a:rPr lang="zh-CN" altLang="en-US" dirty="0"/>
              <a:t> </a:t>
            </a:r>
            <a:r>
              <a:rPr lang="en-US" altLang="zh-CN" sz="2800" dirty="0">
                <a:hlinkClick r:id="rId3"/>
              </a:rPr>
              <a:t>https://gluebenchmark.com/</a:t>
            </a:r>
            <a:r>
              <a:rPr lang="zh-CN" altLang="en-US" sz="2800" dirty="0"/>
              <a:t> 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43AF8-BCB6-764F-AE23-FF070807D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4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B95D6B-7303-7C4A-9150-BB6A46B762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967" y="934600"/>
            <a:ext cx="10638066" cy="55582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8938CBD-374C-0FB9-2F67-86F3E107D64C}"/>
              </a:ext>
            </a:extLst>
          </p:cNvPr>
          <p:cNvSpPr txBox="1"/>
          <p:nvPr/>
        </p:nvSpPr>
        <p:spPr>
          <a:xfrm>
            <a:off x="7678882" y="6423614"/>
            <a:ext cx="42665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600" dirty="0">
                <a:hlinkClick r:id="rId5"/>
              </a:rPr>
              <a:t>https://huggingface.co/datasets/nyu-mll/glue</a:t>
            </a:r>
            <a:r>
              <a:rPr lang="zh-CN" altLang="en-US" sz="1600" dirty="0"/>
              <a:t> </a:t>
            </a:r>
            <a:endParaRPr lang="en-CN" sz="1600" dirty="0"/>
          </a:p>
        </p:txBody>
      </p:sp>
    </p:spTree>
    <p:extLst>
      <p:ext uri="{BB962C8B-B14F-4D97-AF65-F5344CB8AC3E}">
        <p14:creationId xmlns:p14="http://schemas.microsoft.com/office/powerpoint/2010/main" val="1304531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6F4D8-A7C1-134C-850B-10C023E1D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GLUE</a:t>
            </a:r>
            <a:r>
              <a:rPr lang="zh-CN" altLang="en-US" dirty="0"/>
              <a:t> </a:t>
            </a:r>
            <a:r>
              <a:rPr lang="en-US" altLang="zh-CN" sz="2800" dirty="0">
                <a:solidFill>
                  <a:srgbClr val="00B050"/>
                </a:solidFill>
              </a:rPr>
              <a:t>1.</a:t>
            </a:r>
            <a:r>
              <a:rPr lang="zh-CN" altLang="en-US" sz="2800" dirty="0">
                <a:solidFill>
                  <a:srgbClr val="00B050"/>
                </a:solidFill>
              </a:rPr>
              <a:t> </a:t>
            </a:r>
            <a:r>
              <a:rPr lang="en-US" altLang="zh-CN" sz="2800" dirty="0">
                <a:solidFill>
                  <a:srgbClr val="00B050"/>
                </a:solidFill>
              </a:rPr>
              <a:t>Single-sentence tasks</a:t>
            </a:r>
            <a:endParaRPr lang="en-CN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391EE-D1B7-E147-97ED-52257B65E2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494" y="878128"/>
            <a:ext cx="9315125" cy="2278027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Corpus of Linguistic Acceptability (</a:t>
            </a:r>
            <a:r>
              <a:rPr lang="en-US" dirty="0">
                <a:hlinkClick r:id="rId3"/>
              </a:rPr>
              <a:t>CoLA</a:t>
            </a:r>
            <a:r>
              <a:rPr lang="en-US" dirty="0"/>
              <a:t>)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English acceptability judgments drawn from books and journal articles on</a:t>
            </a:r>
            <a:r>
              <a:rPr lang="zh-CN" altLang="en-US" dirty="0"/>
              <a:t> </a:t>
            </a:r>
            <a:r>
              <a:rPr lang="en-US" dirty="0"/>
              <a:t>linguistic theory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Each example is a sequence of words annotated with whether it is a</a:t>
            </a:r>
            <a:r>
              <a:rPr lang="zh-CN" altLang="en-US" dirty="0"/>
              <a:t> </a:t>
            </a:r>
            <a:r>
              <a:rPr lang="en-US" dirty="0"/>
              <a:t>grammatical English sentence. Score is between [-1,1]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A40801-F2EF-8C4D-AAB9-BF7553C65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5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90F17E-D698-3944-8C6B-A1D3F8CBC6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394" y="3228041"/>
            <a:ext cx="9901082" cy="34473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782F09-9941-682F-AA8F-ADE1DAF7071F}"/>
              </a:ext>
            </a:extLst>
          </p:cNvPr>
          <p:cNvSpPr txBox="1"/>
          <p:nvPr/>
        </p:nvSpPr>
        <p:spPr>
          <a:xfrm>
            <a:off x="7678882" y="6515054"/>
            <a:ext cx="42665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600" dirty="0">
                <a:hlinkClick r:id="rId5"/>
              </a:rPr>
              <a:t>https://huggingface.co/datasets/nyu-mll/glue</a:t>
            </a:r>
            <a:r>
              <a:rPr lang="zh-CN" altLang="en-US" sz="1600" dirty="0"/>
              <a:t> </a:t>
            </a:r>
            <a:endParaRPr lang="en-CN" sz="1600" dirty="0"/>
          </a:p>
        </p:txBody>
      </p:sp>
    </p:spTree>
    <p:extLst>
      <p:ext uri="{BB962C8B-B14F-4D97-AF65-F5344CB8AC3E}">
        <p14:creationId xmlns:p14="http://schemas.microsoft.com/office/powerpoint/2010/main" val="2157526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5B051-2DC1-474C-AC49-527E2B562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GLUE</a:t>
            </a:r>
            <a:r>
              <a:rPr lang="zh-CN" altLang="en-US" dirty="0"/>
              <a:t> </a:t>
            </a:r>
            <a:r>
              <a:rPr lang="en-US" altLang="zh-CN" sz="2800" dirty="0">
                <a:solidFill>
                  <a:srgbClr val="00B050"/>
                </a:solidFill>
              </a:rPr>
              <a:t>1.</a:t>
            </a:r>
            <a:r>
              <a:rPr lang="zh-CN" altLang="en-US" sz="2800" dirty="0">
                <a:solidFill>
                  <a:srgbClr val="00B050"/>
                </a:solidFill>
              </a:rPr>
              <a:t> </a:t>
            </a:r>
            <a:r>
              <a:rPr lang="en-US" altLang="zh-CN" sz="2800" dirty="0">
                <a:solidFill>
                  <a:srgbClr val="00B050"/>
                </a:solidFill>
              </a:rPr>
              <a:t>Single-sentence tasks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6149E-0DD3-D340-9A45-F5AC68087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Aft>
                <a:spcPts val="1200"/>
              </a:spcAft>
            </a:pPr>
            <a:r>
              <a:rPr lang="en-US" dirty="0"/>
              <a:t>The Stanford Sentiment Treebank (</a:t>
            </a:r>
            <a:r>
              <a:rPr lang="en-US" dirty="0">
                <a:hlinkClick r:id="rId3"/>
              </a:rPr>
              <a:t>SST-2</a:t>
            </a:r>
            <a:r>
              <a:rPr lang="en-US" dirty="0"/>
              <a:t>)</a:t>
            </a:r>
          </a:p>
          <a:p>
            <a:pPr lvl="1">
              <a:spcAft>
                <a:spcPts val="1200"/>
              </a:spcAft>
            </a:pPr>
            <a:r>
              <a:rPr lang="en-US" altLang="zh-CN" dirty="0"/>
              <a:t>S</a:t>
            </a:r>
            <a:r>
              <a:rPr lang="en-US" dirty="0"/>
              <a:t>entences from movie</a:t>
            </a:r>
            <a:r>
              <a:rPr lang="zh-CN" altLang="en-US" dirty="0"/>
              <a:t> </a:t>
            </a:r>
            <a:r>
              <a:rPr lang="en-US" dirty="0"/>
              <a:t>reviews and human annotations of their sentiment. The task is to predict the sentiment of a given</a:t>
            </a:r>
            <a:r>
              <a:rPr lang="zh-CN" altLang="en-US" dirty="0"/>
              <a:t> </a:t>
            </a:r>
            <a:r>
              <a:rPr lang="en-US" dirty="0"/>
              <a:t>sentence. We use the </a:t>
            </a:r>
            <a:r>
              <a:rPr lang="en-US" dirty="0">
                <a:solidFill>
                  <a:srgbClr val="FF0000"/>
                </a:solidFill>
              </a:rPr>
              <a:t>two-way</a:t>
            </a:r>
            <a:r>
              <a:rPr lang="en-US" dirty="0"/>
              <a:t> (positive/negative) class split, and use only sentence-level labels.</a:t>
            </a:r>
          </a:p>
          <a:p>
            <a:pPr lvl="2">
              <a:spcAft>
                <a:spcPts val="1200"/>
              </a:spcAft>
            </a:pPr>
            <a:r>
              <a:rPr lang="en-US" i="1" dirty="0"/>
              <a:t>uneasy mishmash of styles and genres</a:t>
            </a:r>
          </a:p>
          <a:p>
            <a:pPr lvl="2">
              <a:spcAft>
                <a:spcPts val="1200"/>
              </a:spcAft>
            </a:pPr>
            <a:r>
              <a:rPr lang="en-US" i="1" dirty="0"/>
              <a:t>it's also heavy-handed and devotes too much time to bigoted views</a:t>
            </a:r>
          </a:p>
          <a:p>
            <a:pPr lvl="2">
              <a:spcAft>
                <a:spcPts val="1200"/>
              </a:spcAft>
            </a:pPr>
            <a:r>
              <a:rPr lang="en-US" i="1" dirty="0"/>
              <a:t>waydowntown is by no means a perfect film, but its boasts a huge charm factor and smacks of originality</a:t>
            </a:r>
          </a:p>
          <a:p>
            <a:pPr lvl="2">
              <a:spcAft>
                <a:spcPts val="1200"/>
              </a:spcAft>
            </a:pPr>
            <a:r>
              <a:rPr lang="en-US" i="1" dirty="0"/>
              <a:t>a remarkable 179-minute meditation on the nature of revolution</a:t>
            </a:r>
          </a:p>
          <a:p>
            <a:pPr lvl="2">
              <a:spcAft>
                <a:spcPts val="1200"/>
              </a:spcAft>
            </a:pPr>
            <a:r>
              <a:rPr lang="en-US" i="1" dirty="0"/>
              <a:t>starts off with a bang , but then fizzles like a wet stick of dynamite at the very end</a:t>
            </a:r>
            <a:endParaRPr lang="en-CN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28E5EC-2057-6742-989C-91A945412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5FC4F2-ECDD-F13F-B6F7-7412DD77BAE1}"/>
              </a:ext>
            </a:extLst>
          </p:cNvPr>
          <p:cNvSpPr txBox="1"/>
          <p:nvPr/>
        </p:nvSpPr>
        <p:spPr>
          <a:xfrm>
            <a:off x="7678882" y="6423614"/>
            <a:ext cx="42665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600" dirty="0">
                <a:hlinkClick r:id="rId4"/>
              </a:rPr>
              <a:t>https://huggingface.co/datasets/nyu-mll/glue</a:t>
            </a:r>
            <a:r>
              <a:rPr lang="zh-CN" altLang="en-US" sz="1600" dirty="0"/>
              <a:t> </a:t>
            </a:r>
            <a:endParaRPr lang="en-CN" sz="1600" dirty="0"/>
          </a:p>
        </p:txBody>
      </p:sp>
    </p:spTree>
    <p:extLst>
      <p:ext uri="{BB962C8B-B14F-4D97-AF65-F5344CB8AC3E}">
        <p14:creationId xmlns:p14="http://schemas.microsoft.com/office/powerpoint/2010/main" val="3179714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1D8F7-9B35-9D49-A7E0-424904AEF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GLUE </a:t>
            </a:r>
            <a:r>
              <a:rPr lang="en-US" sz="2800" dirty="0">
                <a:solidFill>
                  <a:srgbClr val="00B050"/>
                </a:solidFill>
              </a:rPr>
              <a:t>2. Similarity and Paraphrase Tasks</a:t>
            </a:r>
            <a:endParaRPr lang="en-CN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35431-C08B-6A49-B023-A8E1F47B8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493" y="878129"/>
            <a:ext cx="9197139" cy="1945667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Microsoft Research Paraphrase Corpus (</a:t>
            </a:r>
            <a:r>
              <a:rPr lang="en-US" dirty="0">
                <a:hlinkClick r:id="rId3"/>
              </a:rPr>
              <a:t>MRPC</a:t>
            </a:r>
            <a:r>
              <a:rPr lang="en-US" dirty="0"/>
              <a:t>)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Sentence pairs with human annotations whether sentences are semantically equivalent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Classes are imbalanced (68% positive)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A5835B-6AA1-F141-8049-29D4EF7A8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7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1C4AB9-AA60-0D4B-B62B-279BD155C0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593" y="3093089"/>
            <a:ext cx="10854813" cy="33997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2A2CC3-4612-BB10-BEE7-D1FB4C53FB3A}"/>
              </a:ext>
            </a:extLst>
          </p:cNvPr>
          <p:cNvSpPr txBox="1"/>
          <p:nvPr/>
        </p:nvSpPr>
        <p:spPr>
          <a:xfrm>
            <a:off x="7678882" y="6423614"/>
            <a:ext cx="42665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600" dirty="0">
                <a:hlinkClick r:id="rId5"/>
              </a:rPr>
              <a:t>https://huggingface.co/datasets/nyu-mll/glue</a:t>
            </a:r>
            <a:r>
              <a:rPr lang="zh-CN" altLang="en-US" sz="1600" dirty="0"/>
              <a:t> </a:t>
            </a:r>
            <a:endParaRPr lang="en-CN" sz="1600" dirty="0"/>
          </a:p>
        </p:txBody>
      </p:sp>
    </p:spTree>
    <p:extLst>
      <p:ext uri="{BB962C8B-B14F-4D97-AF65-F5344CB8AC3E}">
        <p14:creationId xmlns:p14="http://schemas.microsoft.com/office/powerpoint/2010/main" val="201885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D133E-2630-6A45-9A97-95AA92F10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GLUE </a:t>
            </a:r>
            <a:r>
              <a:rPr lang="en-US" sz="2800" dirty="0">
                <a:solidFill>
                  <a:srgbClr val="00B050"/>
                </a:solidFill>
              </a:rPr>
              <a:t>2. Similarity and Paraphrase Tasks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8F16C-B6AE-7440-AF97-2B8EEC15C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494" y="878128"/>
            <a:ext cx="9069320" cy="2455007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The Semantic Textual Similarity Benchmark (</a:t>
            </a:r>
            <a:r>
              <a:rPr lang="en-US" dirty="0">
                <a:hlinkClick r:id="rId3"/>
              </a:rPr>
              <a:t>STS-B</a:t>
            </a:r>
            <a:r>
              <a:rPr lang="en-US" dirty="0"/>
              <a:t>)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Sentence pairs drawn from various sources, human annotated with similarity score from 1 to 5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Task: predict [1,5]. Report Pearson and Spearman correlation coefficients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0B234-6EDF-4149-95F9-6E6755F39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8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7C57D7-F764-E648-A19A-12A88C9B86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090" y="3333135"/>
            <a:ext cx="10451690" cy="325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536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51B30-645A-FF42-8887-CE30C2F10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GLUE </a:t>
            </a:r>
            <a:r>
              <a:rPr lang="en-US" sz="2800" dirty="0">
                <a:solidFill>
                  <a:srgbClr val="00B050"/>
                </a:solidFill>
              </a:rPr>
              <a:t>2. Similarity and Paraphrase Tasks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DCF2F-41A3-3A40-A4CD-5DF094824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493" y="878129"/>
            <a:ext cx="8341733" cy="2032220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Quora Question Pairs (</a:t>
            </a:r>
            <a:r>
              <a:rPr lang="en-US" dirty="0">
                <a:hlinkClick r:id="rId3"/>
              </a:rPr>
              <a:t>QQP</a:t>
            </a:r>
            <a:r>
              <a:rPr lang="en-US" dirty="0"/>
              <a:t>)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Question pairs from community QA website, Quora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Classes are imbalanced (63% negative) so accuracy and F1 score is reported	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1FF688-DD0C-D54B-A142-267AC5E58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9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BEBDAD-A52B-444B-BD28-BE1A795F44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383" y="2967071"/>
            <a:ext cx="10992465" cy="3468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037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ED6F2-F951-6045-A0B2-215C80588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GLUE </a:t>
            </a:r>
            <a:r>
              <a:rPr lang="en-CN" sz="2800" dirty="0">
                <a:solidFill>
                  <a:srgbClr val="00B050"/>
                </a:solidFill>
              </a:rPr>
              <a:t>3. </a:t>
            </a:r>
            <a:r>
              <a:rPr lang="en-US" sz="2800" dirty="0">
                <a:solidFill>
                  <a:srgbClr val="00B050"/>
                </a:solidFill>
              </a:rPr>
              <a:t>Inference Tasks</a:t>
            </a:r>
            <a:endParaRPr lang="en-CN" sz="2800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A4511-87C7-4341-A828-72BE3BC5C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493" y="878128"/>
            <a:ext cx="9944391" cy="2042053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Multi-Genre Natural Language Inference Corpus (</a:t>
            </a:r>
            <a:r>
              <a:rPr lang="en-US" dirty="0">
                <a:hlinkClick r:id="rId3"/>
              </a:rPr>
              <a:t>MNLI</a:t>
            </a:r>
            <a:r>
              <a:rPr lang="en-US" dirty="0"/>
              <a:t>)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Crowd-sourced sentence pairs with entailment annotations: </a:t>
            </a:r>
            <a:r>
              <a:rPr lang="en-US" i="1" dirty="0"/>
              <a:t>entailment</a:t>
            </a:r>
            <a:r>
              <a:rPr lang="en-US" dirty="0"/>
              <a:t> (0), </a:t>
            </a:r>
            <a:r>
              <a:rPr lang="en-US" i="1" dirty="0"/>
              <a:t>contradiction</a:t>
            </a:r>
            <a:r>
              <a:rPr lang="en-US" dirty="0"/>
              <a:t> (2) and </a:t>
            </a:r>
            <a:r>
              <a:rPr lang="en-US" i="1" dirty="0"/>
              <a:t>neutral</a:t>
            </a:r>
            <a:r>
              <a:rPr lang="en-US" dirty="0"/>
              <a:t> (1)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Task: predict these three labels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9FED69-449A-0241-AB35-1A396972F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10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9DAE45-081C-1548-891A-3F3DD72D57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277" y="3289604"/>
            <a:ext cx="10825316" cy="3385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065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53C4B-BB46-514E-B760-A9DADEB22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GLUE </a:t>
            </a:r>
            <a:r>
              <a:rPr lang="en-CN" sz="2800" dirty="0">
                <a:solidFill>
                  <a:srgbClr val="00B050"/>
                </a:solidFill>
              </a:rPr>
              <a:t>3. </a:t>
            </a:r>
            <a:r>
              <a:rPr lang="en-US" sz="2800" dirty="0">
                <a:solidFill>
                  <a:srgbClr val="00B050"/>
                </a:solidFill>
              </a:rPr>
              <a:t>Inference Tasks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24870-237F-374C-B303-B01FB9578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493" y="878128"/>
            <a:ext cx="11665036" cy="2199369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The Stanford Question Answering Dataset (</a:t>
            </a:r>
            <a:r>
              <a:rPr lang="en-US" dirty="0">
                <a:hlinkClick r:id="rId3"/>
              </a:rPr>
              <a:t>QNLI</a:t>
            </a:r>
            <a:r>
              <a:rPr lang="en-US" dirty="0"/>
              <a:t> based on SQuAD)</a:t>
            </a:r>
          </a:p>
          <a:p>
            <a:pPr lvl="1">
              <a:spcAft>
                <a:spcPts val="600"/>
              </a:spcAft>
            </a:pPr>
            <a:r>
              <a:rPr lang="en-US" sz="2000" dirty="0"/>
              <a:t>Task converted into sentence pair classification by forming a pair between each question and each sentence in the corresponding context, and filtering out pairs with low lexical overlap between the question and the context sentence</a:t>
            </a:r>
          </a:p>
          <a:p>
            <a:pPr lvl="1">
              <a:spcAft>
                <a:spcPts val="600"/>
              </a:spcAft>
            </a:pPr>
            <a:r>
              <a:rPr lang="en-US" sz="2000" dirty="0"/>
              <a:t>Task: predict yes (0) or no (1), the context sentence contains the answer to the question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34B742-47BB-BA4C-82E1-B9C1EC5E7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11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7347EC-018B-BB47-A45E-0C4F43ADCC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498" y="3023118"/>
            <a:ext cx="11269350" cy="352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677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53C4B-BB46-514E-B760-A9DADEB22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GLUE </a:t>
            </a:r>
            <a:r>
              <a:rPr lang="en-CN" sz="2800" dirty="0">
                <a:solidFill>
                  <a:srgbClr val="00B050"/>
                </a:solidFill>
              </a:rPr>
              <a:t>3. </a:t>
            </a:r>
            <a:r>
              <a:rPr lang="en-US" sz="2800" dirty="0">
                <a:solidFill>
                  <a:srgbClr val="00B050"/>
                </a:solidFill>
              </a:rPr>
              <a:t>Inference Tasks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24870-237F-374C-B303-B01FB9578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493" y="878129"/>
            <a:ext cx="7619395" cy="1481614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The Recognizing Textual Entailment (</a:t>
            </a:r>
            <a:r>
              <a:rPr lang="en-US" dirty="0">
                <a:hlinkClick r:id="rId3"/>
              </a:rPr>
              <a:t>RTE</a:t>
            </a:r>
            <a:r>
              <a:rPr lang="en-US" dirty="0"/>
              <a:t>)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The task is to predict </a:t>
            </a:r>
            <a:r>
              <a:rPr lang="en-US" i="1" dirty="0"/>
              <a:t>entailment</a:t>
            </a:r>
            <a:r>
              <a:rPr lang="en-US" dirty="0"/>
              <a:t> (0) or </a:t>
            </a:r>
            <a:r>
              <a:rPr lang="en-US" i="1" dirty="0"/>
              <a:t>not entailment</a:t>
            </a:r>
            <a:r>
              <a:rPr lang="en-US" dirty="0"/>
              <a:t> (1) between pairs of sentences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34B742-47BB-BA4C-82E1-B9C1EC5E7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12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8DCE83-1F02-DB44-BAE0-032F7A0E28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438" y="2717479"/>
            <a:ext cx="11071123" cy="3421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276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53C4B-BB46-514E-B760-A9DADEB22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GLUE </a:t>
            </a:r>
            <a:r>
              <a:rPr lang="en-CN" sz="2800" dirty="0">
                <a:solidFill>
                  <a:srgbClr val="00B050"/>
                </a:solidFill>
              </a:rPr>
              <a:t>3. </a:t>
            </a:r>
            <a:r>
              <a:rPr lang="en-US" sz="2800" dirty="0">
                <a:solidFill>
                  <a:srgbClr val="00B050"/>
                </a:solidFill>
              </a:rPr>
              <a:t>Inference Tasks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24870-237F-374C-B303-B01FB9578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493" y="878128"/>
            <a:ext cx="11064875" cy="3369407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The Winograd Schema Challenge (</a:t>
            </a:r>
            <a:r>
              <a:rPr lang="en-US" dirty="0">
                <a:hlinkClick r:id="rId3"/>
              </a:rPr>
              <a:t>WNLI</a:t>
            </a:r>
            <a:r>
              <a:rPr lang="en-US" dirty="0"/>
              <a:t>)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Reading comprehension task to identify referent of a pronoun using entailment between two sentences (one has pronoun reference explicit)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Predict 1 (entailment) or 0 (not entailment)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Designed to fool simple statistical techniques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Test set is imbalanced (65% not entailment) and dev set is adversarial (memorization will hurt performance)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34B742-47BB-BA4C-82E1-B9C1EC5E7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13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D0F106-BAE4-9D48-8D4A-DD716F5F44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497" y="4362738"/>
            <a:ext cx="11064876" cy="2130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2170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24FD2-9FAF-B44A-89E5-9D7C92F7C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GLUE </a:t>
            </a:r>
            <a:r>
              <a:rPr lang="en-CN" sz="2800" dirty="0">
                <a:solidFill>
                  <a:srgbClr val="00B050"/>
                </a:solidFill>
              </a:rPr>
              <a:t>benchmark performance</a:t>
            </a:r>
            <a:endParaRPr lang="en-CN" dirty="0">
              <a:solidFill>
                <a:srgbClr val="00B05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AF3D56-CB06-EA4C-8F67-84A8908408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62172" y="1084266"/>
            <a:ext cx="10064406" cy="550862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6771D-EE97-0D45-BC2F-F4F2F8670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14</a:t>
            </a:fld>
            <a:endParaRPr lang="zh-CN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CDAEC3-9151-4B4B-8D14-21F50D956705}"/>
              </a:ext>
            </a:extLst>
          </p:cNvPr>
          <p:cNvSpPr txBox="1"/>
          <p:nvPr/>
        </p:nvSpPr>
        <p:spPr>
          <a:xfrm>
            <a:off x="9742784" y="1084266"/>
            <a:ext cx="589935" cy="353731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wrap="square" rtlCol="0">
            <a:noAutofit/>
          </a:bodyPr>
          <a:lstStyle/>
          <a:p>
            <a:endParaRPr lang="en-CN" dirty="0">
              <a:ln w="28575"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891941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25CDB-1751-1341-9585-366433179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SuperGLUE </a:t>
            </a:r>
            <a:r>
              <a:rPr lang="en-US" sz="2800" dirty="0">
                <a:solidFill>
                  <a:schemeClr val="tx1"/>
                </a:solidFill>
                <a:hlinkClick r:id="rId3"/>
              </a:rPr>
              <a:t>https://super.gluebenchmark.com/</a:t>
            </a:r>
            <a:r>
              <a:rPr lang="zh-CN" altLang="en-US" sz="2800" dirty="0">
                <a:solidFill>
                  <a:schemeClr val="tx1"/>
                </a:solidFill>
              </a:rPr>
              <a:t> </a:t>
            </a:r>
            <a:endParaRPr lang="en-CN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C709E-9961-E54C-AD77-03A2874714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947478"/>
            <a:ext cx="6552247" cy="1157149"/>
          </a:xfrm>
        </p:spPr>
        <p:txBody>
          <a:bodyPr>
            <a:norm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lang="en-US" sz="2400" dirty="0"/>
              <a:t>GLUE was too easy for LLMs after July 2019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lang="en-US" sz="2400" dirty="0"/>
              <a:t>SuperGLUE is a more rigorous test of NLU</a:t>
            </a:r>
            <a:endParaRPr lang="en-C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4B481B-43F0-CA4E-96D8-EE8C91CA2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15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BEC566-4303-C84B-8ECC-13185E71DF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202" y="2176608"/>
            <a:ext cx="11039596" cy="43711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B4BC17-2F77-4DBB-D82E-B319F96012AE}"/>
              </a:ext>
            </a:extLst>
          </p:cNvPr>
          <p:cNvSpPr txBox="1"/>
          <p:nvPr/>
        </p:nvSpPr>
        <p:spPr>
          <a:xfrm>
            <a:off x="7338061" y="6533602"/>
            <a:ext cx="46738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600" dirty="0">
                <a:hlinkClick r:id="rId5"/>
              </a:rPr>
              <a:t>https://huggingface.co/datasets/aps/super_glue</a:t>
            </a:r>
            <a:r>
              <a:rPr lang="zh-CN" altLang="en-US" sz="1600" dirty="0"/>
              <a:t> </a:t>
            </a:r>
            <a:endParaRPr lang="en-CN" sz="1600" dirty="0"/>
          </a:p>
        </p:txBody>
      </p:sp>
    </p:spTree>
    <p:extLst>
      <p:ext uri="{BB962C8B-B14F-4D97-AF65-F5344CB8AC3E}">
        <p14:creationId xmlns:p14="http://schemas.microsoft.com/office/powerpoint/2010/main" val="1230193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20F0D-53C8-3F42-AE2A-7B51586E5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SuperGLUE </a:t>
            </a:r>
            <a:r>
              <a:rPr lang="en-US" sz="2800" dirty="0">
                <a:solidFill>
                  <a:srgbClr val="00B050"/>
                </a:solidFill>
              </a:rPr>
              <a:t>1. BoolQ</a:t>
            </a:r>
            <a:endParaRPr lang="en-CN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DE58C-7152-1F4C-B4FA-725C1B1CA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493" y="878129"/>
            <a:ext cx="11064875" cy="610388"/>
          </a:xfrm>
        </p:spPr>
        <p:txBody>
          <a:bodyPr/>
          <a:lstStyle/>
          <a:p>
            <a:r>
              <a:rPr lang="en-US" dirty="0"/>
              <a:t>Boolean Questions, QA task with yes/no answers (</a:t>
            </a:r>
            <a:r>
              <a:rPr lang="en-US" dirty="0">
                <a:hlinkClick r:id="rId3"/>
              </a:rPr>
              <a:t>BoolQ</a:t>
            </a:r>
            <a:r>
              <a:rPr lang="en-US" dirty="0"/>
              <a:t>)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151286-2CAB-9A44-87C6-8C941F2F9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16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308CFD-8DF1-4748-BFFC-D001E3ED1F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193" y="1818521"/>
            <a:ext cx="4053576" cy="42117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2A62DF-6F53-EA4D-9FFD-4DD80C748A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7822" y="1898576"/>
            <a:ext cx="7056857" cy="45924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5FB7AA2-BF97-EC47-AFF8-89ABF7D24BD3}"/>
              </a:ext>
            </a:extLst>
          </p:cNvPr>
          <p:cNvSpPr txBox="1"/>
          <p:nvPr/>
        </p:nvSpPr>
        <p:spPr>
          <a:xfrm>
            <a:off x="5098026" y="1488517"/>
            <a:ext cx="57764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b="1" dirty="0"/>
              <a:t>Kinds of reasoning needed in the BoolQ dataset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E4FDBA-3979-0E3D-D67D-7ED2F4F3D0B1}"/>
              </a:ext>
            </a:extLst>
          </p:cNvPr>
          <p:cNvSpPr txBox="1"/>
          <p:nvPr/>
        </p:nvSpPr>
        <p:spPr>
          <a:xfrm>
            <a:off x="7338061" y="6533602"/>
            <a:ext cx="46738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600" dirty="0">
                <a:hlinkClick r:id="rId6"/>
              </a:rPr>
              <a:t>https://huggingface.co/datasets/aps/super_glue</a:t>
            </a:r>
            <a:r>
              <a:rPr lang="zh-CN" altLang="en-US" sz="1600" dirty="0"/>
              <a:t> </a:t>
            </a:r>
            <a:endParaRPr lang="en-CN" sz="1600" dirty="0"/>
          </a:p>
        </p:txBody>
      </p:sp>
    </p:spTree>
    <p:extLst>
      <p:ext uri="{BB962C8B-B14F-4D97-AF65-F5344CB8AC3E}">
        <p14:creationId xmlns:p14="http://schemas.microsoft.com/office/powerpoint/2010/main" val="4026050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7D3E0-C5A1-754D-9E76-BACA14815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SuperGLUE </a:t>
            </a:r>
            <a:r>
              <a:rPr lang="en-US" altLang="zh-CN" sz="2800" dirty="0">
                <a:solidFill>
                  <a:srgbClr val="00B050"/>
                </a:solidFill>
              </a:rPr>
              <a:t>2</a:t>
            </a:r>
            <a:r>
              <a:rPr lang="en-US" sz="2800" dirty="0">
                <a:solidFill>
                  <a:srgbClr val="00B050"/>
                </a:solidFill>
              </a:rPr>
              <a:t>. CB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1E4E3-E3CC-4549-AB2B-E3D3013B04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497" y="984643"/>
            <a:ext cx="10551159" cy="1145910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r>
              <a:rPr lang="en-US" sz="2400" dirty="0"/>
              <a:t>CommitmentBank</a:t>
            </a:r>
            <a:r>
              <a:rPr lang="zh-CN" altLang="en-US" sz="2400" dirty="0"/>
              <a:t> </a:t>
            </a:r>
            <a:r>
              <a:rPr lang="en-US" altLang="zh-CN" sz="2400" dirty="0"/>
              <a:t>(</a:t>
            </a:r>
            <a:r>
              <a:rPr lang="en-US" altLang="zh-CN" sz="2400" dirty="0">
                <a:hlinkClick r:id="rId3"/>
              </a:rPr>
              <a:t>CB</a:t>
            </a:r>
            <a:r>
              <a:rPr lang="en-US" altLang="zh-CN" sz="2400" dirty="0"/>
              <a:t>):</a:t>
            </a:r>
            <a:r>
              <a:rPr lang="zh-CN" altLang="en-US" sz="2400" dirty="0"/>
              <a:t> </a:t>
            </a:r>
            <a:r>
              <a:rPr lang="en-US" altLang="zh-CN" sz="2000" dirty="0"/>
              <a:t>I</a:t>
            </a:r>
            <a:r>
              <a:rPr lang="en-US" sz="2000" dirty="0"/>
              <a:t>s author committed to truth of embedded clause?</a:t>
            </a:r>
            <a:r>
              <a:rPr lang="zh-CN" altLang="en-US" sz="2000" dirty="0"/>
              <a:t> </a:t>
            </a:r>
            <a:r>
              <a:rPr lang="en-US" altLang="zh-CN" sz="2000" dirty="0"/>
              <a:t>E</a:t>
            </a:r>
            <a:r>
              <a:rPr lang="en-US" sz="2000" dirty="0"/>
              <a:t>ach example consists of a premise</a:t>
            </a:r>
            <a:r>
              <a:rPr lang="zh-CN" altLang="en-US" sz="2000" dirty="0"/>
              <a:t> </a:t>
            </a:r>
            <a:r>
              <a:rPr lang="en-US" sz="2000" dirty="0"/>
              <a:t>containing an embedded clause and the corresponding hypothesis is the extraction of that clause.</a:t>
            </a:r>
            <a:endParaRPr lang="en-C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0EEEC1-94EB-914A-915D-794965E07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17</a:t>
            </a:fld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CFE268-2180-7075-2B4D-25C5DD6995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3680" y="3429000"/>
            <a:ext cx="8504640" cy="32369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DC0D85-106C-F2CB-1E70-8697BBBC7D6E}"/>
              </a:ext>
            </a:extLst>
          </p:cNvPr>
          <p:cNvSpPr txBox="1"/>
          <p:nvPr/>
        </p:nvSpPr>
        <p:spPr>
          <a:xfrm>
            <a:off x="4418686" y="3504286"/>
            <a:ext cx="870597" cy="245300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noAutofit/>
          </a:bodyPr>
          <a:lstStyle/>
          <a:p>
            <a:endParaRPr lang="en-C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C5334F8-1A20-B5B4-EF24-37156B824C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515" y="2121607"/>
            <a:ext cx="6803756" cy="119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5489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ABA90-57A9-D697-D6AB-D7695723A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SuperGLUE </a:t>
            </a:r>
            <a:r>
              <a:rPr lang="en-US" altLang="zh-CN" sz="2800" dirty="0">
                <a:solidFill>
                  <a:srgbClr val="00B050"/>
                </a:solidFill>
              </a:rPr>
              <a:t>3</a:t>
            </a:r>
            <a:r>
              <a:rPr lang="en-US" sz="2800" dirty="0">
                <a:solidFill>
                  <a:srgbClr val="00B050"/>
                </a:solidFill>
              </a:rPr>
              <a:t>. C</a:t>
            </a:r>
            <a:r>
              <a:rPr lang="en-US" altLang="zh-CN" sz="2800" dirty="0">
                <a:solidFill>
                  <a:srgbClr val="00B050"/>
                </a:solidFill>
              </a:rPr>
              <a:t>OPA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10901-98BD-3D43-E831-3EEDDB339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498" y="984642"/>
            <a:ext cx="2942822" cy="1270877"/>
          </a:xfrm>
        </p:spPr>
        <p:txBody>
          <a:bodyPr>
            <a:noAutofit/>
          </a:bodyPr>
          <a:lstStyle/>
          <a:p>
            <a:r>
              <a:rPr lang="en-US" sz="2000" dirty="0"/>
              <a:t>Choice of Plausible Alternatives, causal reasoning task</a:t>
            </a:r>
            <a:endParaRPr lang="en-C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ECF7C-D12B-AD58-1889-88D5E5408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18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4A8A45-C072-2BC3-9139-7D0887535F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514" b="19701"/>
          <a:stretch/>
        </p:blipFill>
        <p:spPr>
          <a:xfrm>
            <a:off x="5041380" y="3973773"/>
            <a:ext cx="6361892" cy="21488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2A5C97-CA95-5687-6058-DDB40C15BF7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9827"/>
          <a:stretch/>
        </p:blipFill>
        <p:spPr>
          <a:xfrm>
            <a:off x="5078671" y="1987944"/>
            <a:ext cx="6231467" cy="20112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21271B-7AEC-18C3-1F58-57EF89753F5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84547"/>
          <a:stretch/>
        </p:blipFill>
        <p:spPr>
          <a:xfrm>
            <a:off x="3683839" y="984643"/>
            <a:ext cx="7772400" cy="6854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BDF3C47-E193-BBAA-648A-8FFAE49D3A9D}"/>
              </a:ext>
            </a:extLst>
          </p:cNvPr>
          <p:cNvSpPr txBox="1"/>
          <p:nvPr/>
        </p:nvSpPr>
        <p:spPr>
          <a:xfrm>
            <a:off x="7896386" y="1987944"/>
            <a:ext cx="519194" cy="41346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noAutofit/>
          </a:bodyPr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6955668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ABA90-57A9-D697-D6AB-D7695723A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SuperGLUE </a:t>
            </a:r>
            <a:r>
              <a:rPr lang="en-US" altLang="zh-CN" sz="2800" dirty="0">
                <a:solidFill>
                  <a:srgbClr val="00B050"/>
                </a:solidFill>
              </a:rPr>
              <a:t>4</a:t>
            </a:r>
            <a:r>
              <a:rPr lang="en-US" sz="2800" dirty="0">
                <a:solidFill>
                  <a:srgbClr val="00B050"/>
                </a:solidFill>
              </a:rPr>
              <a:t>. </a:t>
            </a:r>
            <a:r>
              <a:rPr lang="en-US" altLang="zh-CN" sz="2800" dirty="0">
                <a:solidFill>
                  <a:srgbClr val="00B050"/>
                </a:solidFill>
              </a:rPr>
              <a:t>MultiRC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ECF7C-D12B-AD58-1889-88D5E5408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19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4A8A45-C072-2BC3-9139-7D0887535FB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9514" b="19701"/>
          <a:stretch/>
        </p:blipFill>
        <p:spPr>
          <a:xfrm>
            <a:off x="4663808" y="4611991"/>
            <a:ext cx="6361892" cy="21488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2A5C97-CA95-5687-6058-DDB40C15BF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9827"/>
          <a:stretch/>
        </p:blipFill>
        <p:spPr>
          <a:xfrm>
            <a:off x="4701099" y="2626162"/>
            <a:ext cx="6231467" cy="20112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21271B-7AEC-18C3-1F58-57EF89753F5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5453" b="47709"/>
          <a:stretch/>
        </p:blipFill>
        <p:spPr>
          <a:xfrm>
            <a:off x="3581400" y="861557"/>
            <a:ext cx="7772400" cy="1634068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8A8219E-CB1C-BC05-2378-63F421CC3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497" y="984643"/>
            <a:ext cx="3168903" cy="674824"/>
          </a:xfrm>
        </p:spPr>
        <p:txBody>
          <a:bodyPr>
            <a:noAutofit/>
          </a:bodyPr>
          <a:lstStyle/>
          <a:p>
            <a:r>
              <a:rPr lang="en-US" sz="2000" dirty="0"/>
              <a:t>Multi-Sentence Reading Comprehension</a:t>
            </a:r>
            <a:endParaRPr lang="en-CN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854253-2ED9-FBEF-65A5-D31B50EDFD98}"/>
              </a:ext>
            </a:extLst>
          </p:cNvPr>
          <p:cNvSpPr txBox="1"/>
          <p:nvPr/>
        </p:nvSpPr>
        <p:spPr>
          <a:xfrm>
            <a:off x="8036966" y="2678023"/>
            <a:ext cx="838200" cy="40827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noAutofit/>
          </a:bodyPr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5033298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ABA90-57A9-D697-D6AB-D7695723A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SuperGLUE </a:t>
            </a:r>
            <a:r>
              <a:rPr lang="en-US" altLang="zh-CN" sz="2800" dirty="0">
                <a:solidFill>
                  <a:srgbClr val="00B050"/>
                </a:solidFill>
              </a:rPr>
              <a:t>5</a:t>
            </a:r>
            <a:r>
              <a:rPr lang="en-US" sz="2800" dirty="0">
                <a:solidFill>
                  <a:srgbClr val="00B050"/>
                </a:solidFill>
              </a:rPr>
              <a:t>. </a:t>
            </a:r>
            <a:r>
              <a:rPr lang="en-US" altLang="zh-CN" sz="2800" dirty="0" err="1">
                <a:solidFill>
                  <a:srgbClr val="00B050"/>
                </a:solidFill>
              </a:rPr>
              <a:t>ReCoRD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10901-98BD-3D43-E831-3EEDDB339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498" y="984642"/>
            <a:ext cx="3236635" cy="1394491"/>
          </a:xfrm>
        </p:spPr>
        <p:txBody>
          <a:bodyPr>
            <a:normAutofit/>
          </a:bodyPr>
          <a:lstStyle/>
          <a:p>
            <a:r>
              <a:rPr lang="en-US" sz="2000" dirty="0"/>
              <a:t>Reading Comprehension with Commonsense Reasoning Dataset</a:t>
            </a:r>
            <a:endParaRPr lang="en-C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ECF7C-D12B-AD58-1889-88D5E5408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20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4A8A45-C072-2BC3-9139-7D0887535FB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9514" b="19701"/>
          <a:stretch/>
        </p:blipFill>
        <p:spPr>
          <a:xfrm>
            <a:off x="5028789" y="4689341"/>
            <a:ext cx="6361892" cy="21488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2A5C97-CA95-5687-6058-DDB40C15BF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9827"/>
          <a:stretch/>
        </p:blipFill>
        <p:spPr>
          <a:xfrm>
            <a:off x="5066080" y="2703512"/>
            <a:ext cx="6231467" cy="20112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21271B-7AEC-18C3-1F58-57EF89753F5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2672"/>
          <a:stretch/>
        </p:blipFill>
        <p:spPr>
          <a:xfrm>
            <a:off x="4478866" y="773308"/>
            <a:ext cx="6968066" cy="18821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7F129A-17DB-0F4D-3BAB-311A4FC65EC9}"/>
              </a:ext>
            </a:extLst>
          </p:cNvPr>
          <p:cNvSpPr txBox="1"/>
          <p:nvPr/>
        </p:nvSpPr>
        <p:spPr>
          <a:xfrm>
            <a:off x="9230348" y="2775224"/>
            <a:ext cx="787400" cy="40827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noAutofit/>
          </a:bodyPr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85547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ABA90-57A9-D697-D6AB-D7695723A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SuperGLUE </a:t>
            </a:r>
            <a:r>
              <a:rPr lang="en-US" altLang="zh-CN" sz="2800" dirty="0">
                <a:solidFill>
                  <a:srgbClr val="00B050"/>
                </a:solidFill>
              </a:rPr>
              <a:t>6</a:t>
            </a:r>
            <a:r>
              <a:rPr lang="en-US" sz="2800" dirty="0">
                <a:solidFill>
                  <a:srgbClr val="00B050"/>
                </a:solidFill>
              </a:rPr>
              <a:t>. </a:t>
            </a:r>
            <a:r>
              <a:rPr lang="en-US" altLang="zh-CN" sz="2800" dirty="0">
                <a:solidFill>
                  <a:srgbClr val="00B050"/>
                </a:solidFill>
              </a:rPr>
              <a:t>RTE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10901-98BD-3D43-E831-3EEDDB339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498" y="984643"/>
            <a:ext cx="2557413" cy="2444358"/>
          </a:xfrm>
        </p:spPr>
        <p:txBody>
          <a:bodyPr>
            <a:noAutofit/>
          </a:bodyPr>
          <a:lstStyle/>
          <a:p>
            <a:r>
              <a:rPr lang="en-US" sz="2000" dirty="0"/>
              <a:t>Recognizing Textual Entailment</a:t>
            </a:r>
          </a:p>
          <a:p>
            <a:pPr lvl="1"/>
            <a:r>
              <a:rPr lang="en-US" sz="1600" dirty="0">
                <a:hlinkClick r:id="rId2"/>
              </a:rPr>
              <a:t>RTE1</a:t>
            </a:r>
            <a:endParaRPr lang="en-US" sz="1600" dirty="0"/>
          </a:p>
          <a:p>
            <a:pPr lvl="1"/>
            <a:r>
              <a:rPr lang="en-US" altLang="zh-CN" sz="1600" dirty="0">
                <a:hlinkClick r:id="rId3"/>
              </a:rPr>
              <a:t>RTE3</a:t>
            </a:r>
            <a:endParaRPr lang="en-US" sz="1600" dirty="0"/>
          </a:p>
          <a:p>
            <a:pPr lvl="1"/>
            <a:r>
              <a:rPr lang="en-US" altLang="zh-CN" sz="1600" dirty="0">
                <a:hlinkClick r:id="rId4"/>
              </a:rPr>
              <a:t>RTE5</a:t>
            </a:r>
            <a:endParaRPr lang="en-CN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ECF7C-D12B-AD58-1889-88D5E5408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21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4A8A45-C072-2BC3-9139-7D0887535FB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9514" b="19701"/>
          <a:stretch/>
        </p:blipFill>
        <p:spPr>
          <a:xfrm>
            <a:off x="4930547" y="4153661"/>
            <a:ext cx="6361892" cy="21488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2A5C97-CA95-5687-6058-DDB40C15BF7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9827"/>
          <a:stretch/>
        </p:blipFill>
        <p:spPr>
          <a:xfrm>
            <a:off x="4967838" y="2167832"/>
            <a:ext cx="6231467" cy="20112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7F129A-17DB-0F4D-3BAB-311A4FC65EC9}"/>
              </a:ext>
            </a:extLst>
          </p:cNvPr>
          <p:cNvSpPr txBox="1"/>
          <p:nvPr/>
        </p:nvSpPr>
        <p:spPr>
          <a:xfrm>
            <a:off x="9860238" y="2239544"/>
            <a:ext cx="457200" cy="40827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noAutofit/>
          </a:bodyPr>
          <a:lstStyle/>
          <a:p>
            <a:endParaRPr lang="en-C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E2B4AF-1383-E281-8903-9EE4FAC47E8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9" b="59455"/>
          <a:stretch/>
        </p:blipFill>
        <p:spPr>
          <a:xfrm>
            <a:off x="4007102" y="1040093"/>
            <a:ext cx="7772400" cy="681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2207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ABA90-57A9-D697-D6AB-D7695723A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SuperGLUE </a:t>
            </a:r>
            <a:r>
              <a:rPr lang="en-US" altLang="zh-CN" sz="2800" dirty="0">
                <a:solidFill>
                  <a:srgbClr val="00B050"/>
                </a:solidFill>
              </a:rPr>
              <a:t>7</a:t>
            </a:r>
            <a:r>
              <a:rPr lang="en-US" sz="2800" dirty="0">
                <a:solidFill>
                  <a:srgbClr val="00B050"/>
                </a:solidFill>
              </a:rPr>
              <a:t>.</a:t>
            </a:r>
            <a:r>
              <a:rPr lang="zh-CN" altLang="en-US" sz="2800" dirty="0">
                <a:solidFill>
                  <a:srgbClr val="00B050"/>
                </a:solidFill>
              </a:rPr>
              <a:t> </a:t>
            </a:r>
            <a:r>
              <a:rPr lang="en-US" altLang="zh-CN" sz="2800" dirty="0">
                <a:solidFill>
                  <a:srgbClr val="00B050"/>
                </a:solidFill>
              </a:rPr>
              <a:t>WiC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10901-98BD-3D43-E831-3EEDDB339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498" y="984642"/>
            <a:ext cx="3516035" cy="1394491"/>
          </a:xfrm>
        </p:spPr>
        <p:txBody>
          <a:bodyPr>
            <a:noAutofit/>
          </a:bodyPr>
          <a:lstStyle/>
          <a:p>
            <a:r>
              <a:rPr lang="en-US" altLang="zh-CN" sz="2000" dirty="0">
                <a:hlinkClick r:id="rId3"/>
              </a:rPr>
              <a:t>Word-In-Context</a:t>
            </a:r>
            <a:r>
              <a:rPr lang="en-US" altLang="zh-CN" sz="2000" dirty="0"/>
              <a:t>:</a:t>
            </a:r>
            <a:r>
              <a:rPr lang="zh-CN" altLang="en-US" sz="2000" dirty="0"/>
              <a:t> </a:t>
            </a:r>
            <a:r>
              <a:rPr lang="en-US" altLang="zh-CN" sz="2000" dirty="0"/>
              <a:t>word sense disambiguation task</a:t>
            </a:r>
            <a:r>
              <a:rPr lang="zh-CN" altLang="en-US" sz="2000" dirty="0"/>
              <a:t> </a:t>
            </a:r>
            <a:r>
              <a:rPr lang="en-US" altLang="zh-CN" sz="2000" dirty="0"/>
              <a:t>cast as binary classification of sentence pairs</a:t>
            </a:r>
            <a:endParaRPr lang="en-C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ECF7C-D12B-AD58-1889-88D5E5408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22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4A8A45-C072-2BC3-9139-7D0887535FB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9514" b="19701"/>
          <a:stretch/>
        </p:blipFill>
        <p:spPr>
          <a:xfrm>
            <a:off x="4938104" y="4046145"/>
            <a:ext cx="6361892" cy="21488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2A5C97-CA95-5687-6058-DDB40C15BF7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9827"/>
          <a:stretch/>
        </p:blipFill>
        <p:spPr>
          <a:xfrm>
            <a:off x="4975395" y="2060316"/>
            <a:ext cx="6231467" cy="20112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7F129A-17DB-0F4D-3BAB-311A4FC65EC9}"/>
              </a:ext>
            </a:extLst>
          </p:cNvPr>
          <p:cNvSpPr txBox="1"/>
          <p:nvPr/>
        </p:nvSpPr>
        <p:spPr>
          <a:xfrm>
            <a:off x="10341928" y="2112176"/>
            <a:ext cx="448734" cy="40827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noAutofit/>
          </a:bodyPr>
          <a:lstStyle/>
          <a:p>
            <a:endParaRPr lang="en-C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8731C8A-7237-205F-BC9A-8989A831D26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74" b="30932"/>
          <a:stretch/>
        </p:blipFill>
        <p:spPr>
          <a:xfrm>
            <a:off x="4007102" y="1109127"/>
            <a:ext cx="7772400" cy="49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2075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ABA90-57A9-D697-D6AB-D7695723A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SuperGLUE </a:t>
            </a:r>
            <a:r>
              <a:rPr lang="en-US" altLang="zh-CN" sz="2800" dirty="0">
                <a:solidFill>
                  <a:srgbClr val="00B050"/>
                </a:solidFill>
              </a:rPr>
              <a:t>8</a:t>
            </a:r>
            <a:r>
              <a:rPr lang="en-US" sz="2800" dirty="0">
                <a:solidFill>
                  <a:srgbClr val="00B050"/>
                </a:solidFill>
              </a:rPr>
              <a:t>. </a:t>
            </a:r>
            <a:r>
              <a:rPr lang="en-US" altLang="zh-CN" sz="2800" dirty="0">
                <a:solidFill>
                  <a:srgbClr val="00B050"/>
                </a:solidFill>
              </a:rPr>
              <a:t>WSC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10901-98BD-3D43-E831-3EEDDB339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498" y="984642"/>
            <a:ext cx="3719235" cy="1697598"/>
          </a:xfrm>
        </p:spPr>
        <p:txBody>
          <a:bodyPr>
            <a:noAutofit/>
          </a:bodyPr>
          <a:lstStyle/>
          <a:p>
            <a:r>
              <a:rPr lang="en-US" altLang="zh-CN" sz="2000" dirty="0"/>
              <a:t>C</a:t>
            </a:r>
            <a:r>
              <a:rPr lang="en-US" sz="2000" dirty="0"/>
              <a:t>oreference resolution task in</a:t>
            </a:r>
            <a:r>
              <a:rPr lang="zh-CN" altLang="en-US" sz="2000" dirty="0"/>
              <a:t> </a:t>
            </a:r>
            <a:r>
              <a:rPr lang="en-US" sz="2000" dirty="0"/>
              <a:t>which examples consist of a sentence with a pronoun and a list of noun phrases from the sentence</a:t>
            </a:r>
            <a:endParaRPr lang="en-C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ECF7C-D12B-AD58-1889-88D5E5408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23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4A8A45-C072-2BC3-9139-7D0887535F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514" b="19701"/>
          <a:stretch/>
        </p:blipFill>
        <p:spPr>
          <a:xfrm>
            <a:off x="4809425" y="4239718"/>
            <a:ext cx="6361892" cy="21488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2A5C97-CA95-5687-6058-DDB40C15BF7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9827"/>
          <a:stretch/>
        </p:blipFill>
        <p:spPr>
          <a:xfrm>
            <a:off x="4846716" y="2253889"/>
            <a:ext cx="6231467" cy="20112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7F129A-17DB-0F4D-3BAB-311A4FC65EC9}"/>
              </a:ext>
            </a:extLst>
          </p:cNvPr>
          <p:cNvSpPr txBox="1"/>
          <p:nvPr/>
        </p:nvSpPr>
        <p:spPr>
          <a:xfrm>
            <a:off x="10630207" y="2305749"/>
            <a:ext cx="541110" cy="40827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noAutofit/>
          </a:bodyPr>
          <a:lstStyle/>
          <a:p>
            <a:endParaRPr lang="en-C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1340211-F346-4C77-B272-9DFE768F7CD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916" b="-1688"/>
          <a:stretch/>
        </p:blipFill>
        <p:spPr>
          <a:xfrm>
            <a:off x="4235979" y="1205438"/>
            <a:ext cx="7772400" cy="54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182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FE0D9-688C-F55D-A708-0713947B9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7605E-6E5F-8CEC-C213-1A7018A86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zh-CN" sz="4000" b="1" dirty="0">
                <a:solidFill>
                  <a:schemeClr val="bg2">
                    <a:lumMod val="90000"/>
                  </a:schemeClr>
                </a:solidFill>
              </a:rPr>
              <a:t>GLUE/SuperGLUE</a:t>
            </a:r>
          </a:p>
          <a:p>
            <a:pPr>
              <a:lnSpc>
                <a:spcPct val="150000"/>
              </a:lnSpc>
            </a:pPr>
            <a:r>
              <a:rPr lang="en-US" altLang="zh-CN" sz="4000" b="1" dirty="0"/>
              <a:t>SWAG/HellaSWAG</a:t>
            </a:r>
          </a:p>
          <a:p>
            <a:pPr>
              <a:lnSpc>
                <a:spcPct val="150000"/>
              </a:lnSpc>
            </a:pPr>
            <a:r>
              <a:rPr lang="en-US" altLang="zh-CN" sz="4000" b="1" dirty="0">
                <a:solidFill>
                  <a:schemeClr val="bg2">
                    <a:lumMod val="90000"/>
                  </a:schemeClr>
                </a:solidFill>
              </a:rPr>
              <a:t>Lambada</a:t>
            </a:r>
          </a:p>
          <a:p>
            <a:pPr>
              <a:lnSpc>
                <a:spcPct val="150000"/>
              </a:lnSpc>
            </a:pPr>
            <a:r>
              <a:rPr lang="en-US" altLang="zh-CN" sz="4000" b="1" dirty="0">
                <a:solidFill>
                  <a:schemeClr val="bg2">
                    <a:lumMod val="90000"/>
                  </a:schemeClr>
                </a:solidFill>
              </a:rPr>
              <a:t>Other</a:t>
            </a:r>
            <a:r>
              <a:rPr lang="zh-CN" altLang="en-US" sz="40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altLang="zh-CN" sz="4000" b="1" dirty="0">
                <a:solidFill>
                  <a:schemeClr val="bg2">
                    <a:lumMod val="90000"/>
                  </a:schemeClr>
                </a:solidFill>
              </a:rPr>
              <a:t>datasets</a:t>
            </a:r>
          </a:p>
          <a:p>
            <a:pPr>
              <a:lnSpc>
                <a:spcPct val="150000"/>
              </a:lnSpc>
            </a:pPr>
            <a:r>
              <a:rPr lang="en-US" altLang="zh-CN" sz="4000" b="1" dirty="0">
                <a:solidFill>
                  <a:schemeClr val="bg2">
                    <a:lumMod val="90000"/>
                  </a:schemeClr>
                </a:solidFill>
              </a:rPr>
              <a:t>Datasets</a:t>
            </a:r>
            <a:r>
              <a:rPr lang="zh-CN" altLang="en-US" sz="40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altLang="zh-CN" sz="4000" b="1" dirty="0">
                <a:solidFill>
                  <a:schemeClr val="bg2">
                    <a:lumMod val="90000"/>
                  </a:schemeClr>
                </a:solidFill>
              </a:rPr>
              <a:t>by</a:t>
            </a:r>
            <a:r>
              <a:rPr lang="zh-CN" altLang="en-US" sz="40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altLang="zh-CN" sz="4000" b="1" dirty="0">
                <a:solidFill>
                  <a:schemeClr val="bg2">
                    <a:lumMod val="90000"/>
                  </a:schemeClr>
                </a:solidFill>
              </a:rPr>
              <a:t>task</a:t>
            </a:r>
            <a:r>
              <a:rPr lang="zh-CN" altLang="en-US" sz="40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altLang="zh-CN" sz="4000" b="1" dirty="0">
                <a:solidFill>
                  <a:schemeClr val="bg2">
                    <a:lumMod val="90000"/>
                  </a:schemeClr>
                </a:solidFill>
              </a:rPr>
              <a:t>types</a:t>
            </a:r>
            <a:endParaRPr lang="en-CN" sz="4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0A055-08BD-4EFD-ED7B-AADE9047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24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006168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F0ABB-5D9F-6B6E-A800-59B2CCB75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SWAG</a:t>
            </a:r>
            <a:r>
              <a:rPr lang="zh-CN" altLang="en-US" dirty="0"/>
              <a:t> </a:t>
            </a:r>
            <a:r>
              <a:rPr lang="en-US" altLang="zh-CN" sz="2800" dirty="0">
                <a:solidFill>
                  <a:srgbClr val="00B050"/>
                </a:solidFill>
              </a:rPr>
              <a:t>Situations With Adversarial Generations</a:t>
            </a:r>
            <a:r>
              <a:rPr lang="zh-CN" altLang="en-US" sz="2800" dirty="0">
                <a:solidFill>
                  <a:srgbClr val="00B050"/>
                </a:solidFill>
              </a:rPr>
              <a:t> </a:t>
            </a:r>
            <a:r>
              <a:rPr lang="en-US" altLang="zh-CN" sz="2800" dirty="0">
                <a:solidFill>
                  <a:srgbClr val="00B050"/>
                </a:solidFill>
              </a:rPr>
              <a:t>(SWAG)</a:t>
            </a:r>
            <a:endParaRPr lang="en-CN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9BF16-9922-1CEC-D731-58D6CFF31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493" y="878129"/>
            <a:ext cx="11689715" cy="932383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2400" dirty="0"/>
              <a:t>Large-scale adversarial dataset for grounded commonsense inference</a:t>
            </a:r>
          </a:p>
          <a:p>
            <a:pPr lvl="1">
              <a:spcAft>
                <a:spcPts val="600"/>
              </a:spcAft>
            </a:pPr>
            <a:r>
              <a:rPr lang="en-US" altLang="zh-CN" sz="2000" dirty="0"/>
              <a:t>A</a:t>
            </a:r>
            <a:r>
              <a:rPr lang="en-US" sz="2000" dirty="0"/>
              <a:t> new dataset with 113k</a:t>
            </a:r>
            <a:r>
              <a:rPr lang="zh-CN" altLang="en-US" sz="2000" dirty="0"/>
              <a:t> </a:t>
            </a:r>
            <a:r>
              <a:rPr lang="en-US" sz="2000" dirty="0"/>
              <a:t>multiple choice questions about a rich spectrum of grounded situations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1CCA9-0698-D05B-1B7E-A767DED36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25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E0BB19-7FBB-20EA-C402-061BA22E6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5378" y="1810512"/>
            <a:ext cx="4249394" cy="44642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405B1E-C160-B27E-3625-30832CC61ED3}"/>
              </a:ext>
            </a:extLst>
          </p:cNvPr>
          <p:cNvSpPr txBox="1"/>
          <p:nvPr/>
        </p:nvSpPr>
        <p:spPr>
          <a:xfrm>
            <a:off x="261493" y="2398282"/>
            <a:ext cx="4776851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000" dirty="0"/>
              <a:t>• Given a partial description: "</a:t>
            </a:r>
            <a:r>
              <a:rPr lang="en-US" sz="2000" dirty="0">
                <a:solidFill>
                  <a:schemeClr val="accent1"/>
                </a:solidFill>
              </a:rPr>
              <a:t>she opened the hood of the car</a:t>
            </a:r>
            <a:r>
              <a:rPr lang="en-US" sz="2000" dirty="0"/>
              <a:t>"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000" dirty="0"/>
              <a:t>• Humans can reason: "</a:t>
            </a:r>
            <a:r>
              <a:rPr lang="en-US" sz="2000" dirty="0">
                <a:solidFill>
                  <a:schemeClr val="accent1"/>
                </a:solidFill>
              </a:rPr>
              <a:t>then, she examined the engine</a:t>
            </a:r>
            <a:r>
              <a:rPr lang="en-US" sz="2000" dirty="0"/>
              <a:t>"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000" dirty="0"/>
              <a:t>• Dataset constructed using Adversarial Filtering to identify the answers that are</a:t>
            </a:r>
            <a:r>
              <a:rPr lang="zh-CN" altLang="en-US" sz="2000" dirty="0"/>
              <a:t> </a:t>
            </a:r>
            <a:r>
              <a:rPr lang="en-US" sz="2000" dirty="0"/>
              <a:t>meaning-based rather than based on vocabulary overlap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000" dirty="0"/>
              <a:t>• "</a:t>
            </a:r>
            <a:r>
              <a:rPr lang="en-US" sz="2000" dirty="0">
                <a:solidFill>
                  <a:schemeClr val="accent1"/>
                </a:solidFill>
              </a:rPr>
              <a:t>on stage, a woman takes a seat at the piano</a:t>
            </a:r>
            <a:r>
              <a:rPr lang="en-US" sz="2000" dirty="0"/>
              <a:t>". What next?</a:t>
            </a:r>
            <a:endParaRPr lang="en-CN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2C0ACF-65AA-530F-FB30-E9CF76E24FDF}"/>
              </a:ext>
            </a:extLst>
          </p:cNvPr>
          <p:cNvSpPr txBox="1"/>
          <p:nvPr/>
        </p:nvSpPr>
        <p:spPr>
          <a:xfrm>
            <a:off x="7520941" y="6491710"/>
            <a:ext cx="42493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600" dirty="0">
                <a:hlinkClick r:id="rId4"/>
              </a:rPr>
              <a:t>https://huggingface.co/datasets/allenai/swag</a:t>
            </a:r>
            <a:r>
              <a:rPr lang="zh-CN" altLang="en-US" sz="1600" dirty="0"/>
              <a:t> </a:t>
            </a:r>
            <a:endParaRPr lang="en-CN" sz="1600" dirty="0"/>
          </a:p>
        </p:txBody>
      </p:sp>
    </p:spTree>
    <p:extLst>
      <p:ext uri="{BB962C8B-B14F-4D97-AF65-F5344CB8AC3E}">
        <p14:creationId xmlns:p14="http://schemas.microsoft.com/office/powerpoint/2010/main" val="5772123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D85D3-6273-C5A6-778A-E6841C23C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SWAG</a:t>
            </a:r>
            <a:r>
              <a:rPr lang="zh-CN" altLang="en-US" dirty="0"/>
              <a:t> </a:t>
            </a:r>
            <a:r>
              <a:rPr lang="en-US" altLang="zh-CN" sz="2800" dirty="0">
                <a:solidFill>
                  <a:srgbClr val="00B050"/>
                </a:solidFill>
              </a:rPr>
              <a:t>https://rowanzellers.com/swag/</a:t>
            </a:r>
            <a:endParaRPr lang="en-C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82EE82-2E99-836A-EF20-6667557E3E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63146" y="1083289"/>
            <a:ext cx="4870704" cy="447941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47A69-B758-31D5-60CC-D28CDB839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26</a:t>
            </a:fld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6B0382-156D-5AB7-5E06-3E5724BA157A}"/>
              </a:ext>
            </a:extLst>
          </p:cNvPr>
          <p:cNvSpPr txBox="1"/>
          <p:nvPr/>
        </p:nvSpPr>
        <p:spPr>
          <a:xfrm>
            <a:off x="350902" y="1276284"/>
            <a:ext cx="5245227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CN" sz="2000" dirty="0"/>
              <a:t>Our corpus consists of 113k multiple choice questions (73k training, 20k validation, 20k test) and is derived from pairs of consecutive video captions from ActivityNet Captions</a:t>
            </a:r>
            <a:r>
              <a:rPr lang="zh-CN" altLang="en-US" sz="2000" dirty="0"/>
              <a:t> </a:t>
            </a:r>
            <a:r>
              <a:rPr lang="en-US" altLang="zh-CN" sz="2000" dirty="0"/>
              <a:t>and</a:t>
            </a:r>
            <a:r>
              <a:rPr lang="zh-CN" altLang="en-US" sz="2000" dirty="0"/>
              <a:t> </a:t>
            </a:r>
            <a:r>
              <a:rPr lang="en-US" altLang="zh-CN" sz="2000" dirty="0"/>
              <a:t>and the Large Scale Movie Description Challenge</a:t>
            </a: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For each pair</a:t>
            </a:r>
            <a:r>
              <a:rPr lang="zh-CN" altLang="en-US" sz="2000" dirty="0"/>
              <a:t> </a:t>
            </a:r>
            <a:r>
              <a:rPr lang="en-US" sz="2000" dirty="0"/>
              <a:t>of captions, we use a constituency parser</a:t>
            </a:r>
            <a:r>
              <a:rPr lang="zh-CN" altLang="en-US" sz="2000" dirty="0"/>
              <a:t> </a:t>
            </a:r>
            <a:r>
              <a:rPr lang="en-US" altLang="zh-CN" sz="2000" dirty="0"/>
              <a:t>to split the second sentence into noun</a:t>
            </a:r>
            <a:r>
              <a:rPr lang="zh-CN" altLang="en-US" sz="2000" dirty="0"/>
              <a:t> </a:t>
            </a:r>
            <a:r>
              <a:rPr lang="en-US" altLang="zh-CN" sz="2000" dirty="0"/>
              <a:t>and verb phrases</a:t>
            </a: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Each question has a</a:t>
            </a:r>
            <a:r>
              <a:rPr lang="zh-CN" altLang="en-US" sz="2000" dirty="0"/>
              <a:t> </a:t>
            </a:r>
            <a:r>
              <a:rPr lang="en-US" sz="2000" dirty="0"/>
              <a:t>human-verified gold ending and 3 distractors</a:t>
            </a:r>
            <a:endParaRPr lang="en-CN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FF4190-BDEF-51A2-9877-94A27609B92C}"/>
              </a:ext>
            </a:extLst>
          </p:cNvPr>
          <p:cNvSpPr txBox="1"/>
          <p:nvPr/>
        </p:nvSpPr>
        <p:spPr>
          <a:xfrm>
            <a:off x="6345747" y="5706298"/>
            <a:ext cx="52366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Soon after release BERT models fine-tuned on Swag obtain 86% accuracy.</a:t>
            </a:r>
            <a:r>
              <a:rPr lang="zh-CN" altLang="en-US" sz="1400" dirty="0"/>
              <a:t> </a:t>
            </a:r>
            <a:r>
              <a:rPr lang="en-US" sz="1400" dirty="0"/>
              <a:t>DeBERTa-large gets 94.12% accuracy</a:t>
            </a:r>
            <a:endParaRPr lang="en-CN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7876EF-D5F5-EE41-ABBF-5A6315744D40}"/>
              </a:ext>
            </a:extLst>
          </p:cNvPr>
          <p:cNvSpPr txBox="1"/>
          <p:nvPr/>
        </p:nvSpPr>
        <p:spPr>
          <a:xfrm>
            <a:off x="7520941" y="6491710"/>
            <a:ext cx="42493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600" dirty="0">
                <a:hlinkClick r:id="rId4"/>
              </a:rPr>
              <a:t>https://huggingface.co/datasets/allenai/swag</a:t>
            </a:r>
            <a:r>
              <a:rPr lang="zh-CN" altLang="en-US" sz="1600" dirty="0"/>
              <a:t> </a:t>
            </a:r>
            <a:endParaRPr lang="en-CN" sz="1600" dirty="0"/>
          </a:p>
        </p:txBody>
      </p:sp>
    </p:spTree>
    <p:extLst>
      <p:ext uri="{BB962C8B-B14F-4D97-AF65-F5344CB8AC3E}">
        <p14:creationId xmlns:p14="http://schemas.microsoft.com/office/powerpoint/2010/main" val="12821070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37DA9-4527-3499-26AF-AA4B0AE8F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SWAG</a:t>
            </a:r>
            <a:r>
              <a:rPr lang="zh-CN" altLang="en-US" dirty="0"/>
              <a:t> </a:t>
            </a:r>
            <a:r>
              <a:rPr lang="en-US" altLang="zh-CN" sz="2800" dirty="0">
                <a:solidFill>
                  <a:srgbClr val="00B050"/>
                </a:solidFill>
              </a:rPr>
              <a:t>https://rowanzellers.com/swag/</a:t>
            </a:r>
            <a:endParaRPr lang="en-C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040C9C-8BD1-8382-3523-4872B5338D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12497" y="860835"/>
            <a:ext cx="11064875" cy="376879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E67B43-0186-8680-E029-D6C390CCB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27</a:t>
            </a:fld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17E4B1-CC15-E123-485B-8B6238388FA0}"/>
              </a:ext>
            </a:extLst>
          </p:cNvPr>
          <p:cNvSpPr txBox="1"/>
          <p:nvPr/>
        </p:nvSpPr>
        <p:spPr>
          <a:xfrm>
            <a:off x="563563" y="4770415"/>
            <a:ext cx="1106487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000" dirty="0"/>
              <a:t>A</a:t>
            </a:r>
            <a:r>
              <a:rPr lang="en-US" sz="2000" dirty="0"/>
              <a:t>nswering “</a:t>
            </a:r>
            <a:r>
              <a:rPr lang="en-US" sz="2000" i="1" dirty="0">
                <a:solidFill>
                  <a:schemeClr val="accent1"/>
                </a:solidFill>
              </a:rPr>
              <a:t>An old man rides</a:t>
            </a:r>
            <a:r>
              <a:rPr lang="zh-CN" altLang="en-US" sz="2000" i="1" dirty="0">
                <a:solidFill>
                  <a:schemeClr val="accent1"/>
                </a:solidFill>
              </a:rPr>
              <a:t> </a:t>
            </a:r>
            <a:r>
              <a:rPr lang="en-US" altLang="zh-CN" sz="2000" i="1" dirty="0">
                <a:solidFill>
                  <a:schemeClr val="accent1"/>
                </a:solidFill>
              </a:rPr>
              <a:t>…</a:t>
            </a:r>
            <a:r>
              <a:rPr lang="en-US" sz="2000" dirty="0"/>
              <a:t>” requires knowledge about</a:t>
            </a:r>
            <a:r>
              <a:rPr lang="zh-CN" altLang="en-US" sz="2000" dirty="0"/>
              <a:t> </a:t>
            </a:r>
            <a:r>
              <a:rPr lang="en-US" sz="2000" dirty="0"/>
              <a:t>bumper cars and how they differ from regular cars:</a:t>
            </a:r>
            <a:r>
              <a:rPr lang="zh-CN" altLang="en-US" sz="2000" dirty="0"/>
              <a:t> </a:t>
            </a:r>
            <a:r>
              <a:rPr lang="en-US" sz="2000" dirty="0"/>
              <a:t>bumper cars are tiny, don’t drive on roads, and</a:t>
            </a:r>
            <a:r>
              <a:rPr lang="zh-CN" altLang="en-US" sz="2000" dirty="0"/>
              <a:t> </a:t>
            </a:r>
            <a:r>
              <a:rPr lang="en-US" sz="2000" dirty="0"/>
              <a:t>don’t work in parking lots</a:t>
            </a: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000" dirty="0"/>
              <a:t>A</a:t>
            </a:r>
            <a:r>
              <a:rPr lang="en-US" sz="2000" dirty="0"/>
              <a:t>nswering </a:t>
            </a:r>
            <a:r>
              <a:rPr lang="en-US" altLang="zh-CN" sz="2000" dirty="0"/>
              <a:t>“</a:t>
            </a:r>
            <a:r>
              <a:rPr lang="en-US" altLang="zh-CN" sz="2000" i="1" dirty="0">
                <a:solidFill>
                  <a:schemeClr val="accent1"/>
                </a:solidFill>
              </a:rPr>
              <a:t>H</a:t>
            </a:r>
            <a:r>
              <a:rPr lang="en-US" sz="2000" i="1" dirty="0">
                <a:solidFill>
                  <a:schemeClr val="accent1"/>
                </a:solidFill>
              </a:rPr>
              <a:t>e pours the raw egg</a:t>
            </a:r>
            <a:r>
              <a:rPr lang="zh-CN" altLang="en-US" sz="2000" i="1" dirty="0">
                <a:solidFill>
                  <a:schemeClr val="accent1"/>
                </a:solidFill>
              </a:rPr>
              <a:t> </a:t>
            </a:r>
            <a:r>
              <a:rPr lang="en-US" altLang="zh-CN" sz="2000" i="1" dirty="0">
                <a:solidFill>
                  <a:schemeClr val="accent1"/>
                </a:solidFill>
              </a:rPr>
              <a:t>…</a:t>
            </a:r>
            <a:r>
              <a:rPr lang="en-US" altLang="zh-CN" sz="2000" dirty="0"/>
              <a:t>”</a:t>
            </a:r>
            <a:r>
              <a:rPr lang="zh-CN" altLang="en-US" sz="2000" dirty="0"/>
              <a:t> </a:t>
            </a:r>
            <a:r>
              <a:rPr lang="en-US" sz="2000" dirty="0"/>
              <a:t>require</a:t>
            </a:r>
            <a:r>
              <a:rPr lang="en-US" altLang="zh-CN" sz="2000" dirty="0"/>
              <a:t>s</a:t>
            </a:r>
            <a:r>
              <a:rPr lang="en-US" sz="2000" dirty="0"/>
              <a:t> intuitive physical reasoning</a:t>
            </a:r>
            <a:r>
              <a:rPr lang="zh-CN" altLang="en-US" sz="2000" dirty="0"/>
              <a:t> </a:t>
            </a:r>
            <a:r>
              <a:rPr lang="en-US" sz="2000" dirty="0"/>
              <a:t>about what happens next in making an omelet.</a:t>
            </a:r>
            <a:endParaRPr lang="en-CN" sz="2000" dirty="0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EAACFCFA-2326-24AE-8BD6-053C00BC7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6122" y="934404"/>
            <a:ext cx="1021077" cy="944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86BD7F1-2206-CB74-BD70-002BBF37A5D4}"/>
              </a:ext>
            </a:extLst>
          </p:cNvPr>
          <p:cNvSpPr txBox="1"/>
          <p:nvPr/>
        </p:nvSpPr>
        <p:spPr>
          <a:xfrm>
            <a:off x="10995370" y="1808595"/>
            <a:ext cx="792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batter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6150506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CB32-5EFF-BBB3-5AAE-20C1A8FC0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HellaSWAG</a:t>
            </a:r>
            <a:r>
              <a:rPr lang="zh-CN" altLang="en-US" dirty="0"/>
              <a:t> </a:t>
            </a:r>
            <a:r>
              <a:rPr lang="en-US" sz="2800" dirty="0">
                <a:solidFill>
                  <a:srgbClr val="00B050"/>
                </a:solidFill>
              </a:rPr>
              <a:t>https://rowanzellers.com/</a:t>
            </a:r>
            <a:r>
              <a:rPr lang="en-US" sz="2800" dirty="0" err="1">
                <a:solidFill>
                  <a:srgbClr val="00B050"/>
                </a:solidFill>
              </a:rPr>
              <a:t>hellaswag</a:t>
            </a:r>
            <a:r>
              <a:rPr lang="en-US" sz="2800" dirty="0">
                <a:solidFill>
                  <a:srgbClr val="00B050"/>
                </a:solidFill>
              </a:rPr>
              <a:t>/</a:t>
            </a:r>
            <a:endParaRPr lang="en-CN" sz="2800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90716-33D8-7E7D-927B-35B425D92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493" y="878129"/>
            <a:ext cx="11064875" cy="2550872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dirty="0">
                <a:hlinkClick r:id="rId3"/>
              </a:rPr>
              <a:t>Can a Machine Really Finish Your Sentence</a:t>
            </a:r>
            <a:r>
              <a:rPr lang="en-US" dirty="0"/>
              <a:t>?</a:t>
            </a:r>
          </a:p>
          <a:p>
            <a:pPr>
              <a:spcAft>
                <a:spcPts val="600"/>
              </a:spcAft>
            </a:pPr>
            <a:r>
              <a:rPr lang="en-US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</a:rPr>
              <a:t>Pick the best ending to the context</a:t>
            </a:r>
            <a:endParaRPr lang="en-US" dirty="0">
              <a:solidFill>
                <a:srgbClr val="212529"/>
              </a:solidFill>
              <a:highlight>
                <a:srgbClr val="FFFFFF"/>
              </a:highlight>
            </a:endParaRPr>
          </a:p>
          <a:p>
            <a:pPr lvl="1">
              <a:spcAft>
                <a:spcPts val="600"/>
              </a:spcAft>
            </a:pPr>
            <a:r>
              <a:rPr lang="en-US" altLang="zh-CN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</a:rPr>
              <a:t>How to catch dragonflies. Use a long-handled aerial net with a wide opening. Select an aerial net that is 18 inches (46 cm) in diameter or larger. Look for one with a nice long handle.</a:t>
            </a:r>
            <a:r>
              <a:rPr lang="zh-CN" altLang="en-US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</a:rPr>
              <a:t> </a:t>
            </a:r>
            <a:r>
              <a:rPr lang="en-US" altLang="zh-CN" b="0" i="0" dirty="0">
                <a:solidFill>
                  <a:srgbClr val="212529"/>
                </a:solidFill>
                <a:effectLst/>
                <a:highlight>
                  <a:srgbClr val="FFFFFF"/>
                </a:highlight>
              </a:rPr>
              <a:t>…</a:t>
            </a:r>
          </a:p>
          <a:p>
            <a:pPr lvl="1">
              <a:spcAft>
                <a:spcPts val="600"/>
              </a:spcAft>
            </a:pPr>
            <a:endParaRPr lang="en-US" b="0" i="0" dirty="0">
              <a:solidFill>
                <a:srgbClr val="212529"/>
              </a:solidFill>
              <a:effectLst/>
              <a:highlight>
                <a:srgbClr val="FFFFFF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BB2081-6778-A1DA-8CCD-B9567D0F5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28</a:t>
            </a:fld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074F3A-FFCB-5F7B-E8E9-CB851B05F5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892" y="3512131"/>
            <a:ext cx="5906125" cy="13197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673874-2E5A-D15C-86FC-20FFEBDE0D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841" y="4981802"/>
            <a:ext cx="8550887" cy="13197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40C6448-BDBF-F534-73D1-CD20DE8988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999" y="3666109"/>
            <a:ext cx="6095999" cy="5629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D7EBCA-BE38-352F-91AD-95FD213B0CCD}"/>
              </a:ext>
            </a:extLst>
          </p:cNvPr>
          <p:cNvSpPr txBox="1"/>
          <p:nvPr/>
        </p:nvSpPr>
        <p:spPr>
          <a:xfrm>
            <a:off x="7188430" y="6506160"/>
            <a:ext cx="46987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600" dirty="0">
                <a:hlinkClick r:id="rId7"/>
              </a:rPr>
              <a:t>https://huggingface.co/datasets/Rowan/hellaswag</a:t>
            </a:r>
            <a:r>
              <a:rPr lang="zh-CN" altLang="en-US" sz="1600" dirty="0"/>
              <a:t> </a:t>
            </a:r>
            <a:endParaRPr lang="en-CN" sz="1600" dirty="0"/>
          </a:p>
        </p:txBody>
      </p:sp>
    </p:spTree>
    <p:extLst>
      <p:ext uri="{BB962C8B-B14F-4D97-AF65-F5344CB8AC3E}">
        <p14:creationId xmlns:p14="http://schemas.microsoft.com/office/powerpoint/2010/main" val="1922175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CB32-5EFF-BBB3-5AAE-20C1A8FC0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HellaSWAG</a:t>
            </a:r>
            <a:r>
              <a:rPr lang="zh-CN" altLang="en-US" dirty="0"/>
              <a:t> </a:t>
            </a:r>
            <a:r>
              <a:rPr lang="en-US" sz="2800" dirty="0">
                <a:solidFill>
                  <a:srgbClr val="00B050"/>
                </a:solidFill>
              </a:rPr>
              <a:t>https://rowanzellers.com/</a:t>
            </a:r>
            <a:r>
              <a:rPr lang="en-US" sz="2800" dirty="0" err="1">
                <a:solidFill>
                  <a:srgbClr val="00B050"/>
                </a:solidFill>
              </a:rPr>
              <a:t>hellaswag</a:t>
            </a:r>
            <a:r>
              <a:rPr lang="en-US" sz="2800" dirty="0">
                <a:solidFill>
                  <a:srgbClr val="00B050"/>
                </a:solidFill>
              </a:rPr>
              <a:t>/</a:t>
            </a:r>
            <a:endParaRPr lang="en-CN" sz="2800" dirty="0">
              <a:solidFill>
                <a:srgbClr val="00B05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27406B-F2D0-2DE6-9C7E-24DEB3443F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18372" y="1365240"/>
            <a:ext cx="4529369" cy="487966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BB2081-6778-A1DA-8CCD-B9567D0F5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29</a:t>
            </a:fld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391B58-0AF6-1D21-0EAD-834F34DBC0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459" y="1258780"/>
            <a:ext cx="5555109" cy="498612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E23E3E-4204-2FAE-1042-6EDB3B97C645}"/>
              </a:ext>
            </a:extLst>
          </p:cNvPr>
          <p:cNvSpPr txBox="1"/>
          <p:nvPr/>
        </p:nvSpPr>
        <p:spPr>
          <a:xfrm>
            <a:off x="7188430" y="6506160"/>
            <a:ext cx="46987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600" dirty="0">
                <a:hlinkClick r:id="rId5"/>
              </a:rPr>
              <a:t>https://huggingface.co/datasets/Rowan/hellaswag</a:t>
            </a:r>
            <a:r>
              <a:rPr lang="zh-CN" altLang="en-US" sz="1600" dirty="0"/>
              <a:t> </a:t>
            </a:r>
            <a:endParaRPr lang="en-CN" sz="1600" dirty="0"/>
          </a:p>
        </p:txBody>
      </p:sp>
    </p:spTree>
    <p:extLst>
      <p:ext uri="{BB962C8B-B14F-4D97-AF65-F5344CB8AC3E}">
        <p14:creationId xmlns:p14="http://schemas.microsoft.com/office/powerpoint/2010/main" val="6949653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7C5BE-85CA-FDB4-CD64-7DB8BFB76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HellaSWAG</a:t>
            </a:r>
            <a:r>
              <a:rPr lang="zh-CN" altLang="en-US" dirty="0"/>
              <a:t> </a:t>
            </a:r>
            <a:r>
              <a:rPr lang="en-US" sz="2800" dirty="0">
                <a:solidFill>
                  <a:srgbClr val="00B050"/>
                </a:solidFill>
              </a:rPr>
              <a:t>https://rowanzellers.com/</a:t>
            </a:r>
            <a:r>
              <a:rPr lang="en-US" sz="2800" dirty="0" err="1">
                <a:solidFill>
                  <a:srgbClr val="00B050"/>
                </a:solidFill>
              </a:rPr>
              <a:t>hellaswag</a:t>
            </a:r>
            <a:r>
              <a:rPr lang="en-US" sz="2800" dirty="0">
                <a:solidFill>
                  <a:srgbClr val="00B050"/>
                </a:solidFill>
              </a:rPr>
              <a:t>/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76444-5D1D-C337-59DF-933433B72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493" y="878129"/>
            <a:ext cx="11064875" cy="1198644"/>
          </a:xfrm>
        </p:spPr>
        <p:txBody>
          <a:bodyPr/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lang="en-US" dirty="0"/>
              <a:t>GPT 3 gets 85.5% accuracy (10-shot learning)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lang="en-US" dirty="0"/>
              <a:t>GPT 4 gets 95.3% accuracy (10-shot learning)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FECCE6-CCFB-B132-8495-497FEB600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30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210265-67AA-EC8C-08E6-90AA64610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036" y="2351093"/>
            <a:ext cx="6749607" cy="17741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FDECEF-8C91-246B-FFFB-BCB7EE98A7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6822"/>
          <a:stretch/>
        </p:blipFill>
        <p:spPr>
          <a:xfrm>
            <a:off x="2209800" y="4399563"/>
            <a:ext cx="7772400" cy="9391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8E502D-26AD-0C31-3785-6CE2AFE343B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0961"/>
          <a:stretch/>
        </p:blipFill>
        <p:spPr>
          <a:xfrm>
            <a:off x="2209800" y="5338725"/>
            <a:ext cx="7772400" cy="63161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D14EB96-3602-545D-5C96-440542B403BB}"/>
              </a:ext>
            </a:extLst>
          </p:cNvPr>
          <p:cNvSpPr txBox="1"/>
          <p:nvPr/>
        </p:nvSpPr>
        <p:spPr>
          <a:xfrm>
            <a:off x="7188430" y="6506160"/>
            <a:ext cx="46987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600" dirty="0">
                <a:hlinkClick r:id="rId4"/>
              </a:rPr>
              <a:t>https://huggingface.co/datasets/Rowan/hellaswag</a:t>
            </a:r>
            <a:r>
              <a:rPr lang="zh-CN" altLang="en-US" sz="1600" dirty="0"/>
              <a:t> </a:t>
            </a:r>
            <a:endParaRPr lang="en-CN" sz="1600" dirty="0"/>
          </a:p>
        </p:txBody>
      </p:sp>
    </p:spTree>
    <p:extLst>
      <p:ext uri="{BB962C8B-B14F-4D97-AF65-F5344CB8AC3E}">
        <p14:creationId xmlns:p14="http://schemas.microsoft.com/office/powerpoint/2010/main" val="21524510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BA2AA-A954-A989-FCD6-3B7F09E11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HellaSWAG</a:t>
            </a:r>
            <a:endParaRPr lang="en-C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010CBD6-7D32-A386-B94B-AB59321FD9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487" y="1966912"/>
            <a:ext cx="8661400" cy="35433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A6B2D-877D-246C-538C-2C2C3C247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31</a:t>
            </a:fld>
            <a:endParaRPr lang="zh-CN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789569-34B5-D2DD-C718-082F35D23CD8}"/>
              </a:ext>
            </a:extLst>
          </p:cNvPr>
          <p:cNvSpPr txBox="1"/>
          <p:nvPr/>
        </p:nvSpPr>
        <p:spPr>
          <a:xfrm>
            <a:off x="7188430" y="6506160"/>
            <a:ext cx="46987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600" dirty="0">
                <a:hlinkClick r:id="rId3"/>
              </a:rPr>
              <a:t>https://huggingface.co/datasets/Rowan/hellaswag</a:t>
            </a:r>
            <a:r>
              <a:rPr lang="zh-CN" altLang="en-US" sz="1600" dirty="0"/>
              <a:t> </a:t>
            </a:r>
            <a:endParaRPr lang="en-CN" sz="1600" dirty="0"/>
          </a:p>
        </p:txBody>
      </p:sp>
    </p:spTree>
    <p:extLst>
      <p:ext uri="{BB962C8B-B14F-4D97-AF65-F5344CB8AC3E}">
        <p14:creationId xmlns:p14="http://schemas.microsoft.com/office/powerpoint/2010/main" val="10157398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FE0D9-688C-F55D-A708-0713947B9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7605E-6E5F-8CEC-C213-1A7018A86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4000" b="1" dirty="0">
                <a:solidFill>
                  <a:schemeClr val="bg2">
                    <a:lumMod val="90000"/>
                  </a:schemeClr>
                </a:solidFill>
              </a:rPr>
              <a:t>GLUE/SuperGLUE</a:t>
            </a:r>
          </a:p>
          <a:p>
            <a:pPr>
              <a:lnSpc>
                <a:spcPct val="150000"/>
              </a:lnSpc>
            </a:pPr>
            <a:r>
              <a:rPr lang="en-US" altLang="zh-CN" sz="4000" b="1" dirty="0">
                <a:solidFill>
                  <a:schemeClr val="bg2">
                    <a:lumMod val="90000"/>
                  </a:schemeClr>
                </a:solidFill>
              </a:rPr>
              <a:t>SWAG/HellaSWAG</a:t>
            </a:r>
          </a:p>
          <a:p>
            <a:pPr>
              <a:lnSpc>
                <a:spcPct val="150000"/>
              </a:lnSpc>
            </a:pPr>
            <a:r>
              <a:rPr lang="en-US" altLang="zh-CN" sz="4000" b="1" dirty="0"/>
              <a:t>Other</a:t>
            </a:r>
            <a:r>
              <a:rPr lang="zh-CN" altLang="en-US" sz="4000" b="1" dirty="0"/>
              <a:t> </a:t>
            </a:r>
            <a:r>
              <a:rPr lang="en-US" altLang="zh-CN" sz="4000" b="1" dirty="0"/>
              <a:t>datasets</a:t>
            </a:r>
          </a:p>
          <a:p>
            <a:pPr>
              <a:lnSpc>
                <a:spcPct val="150000"/>
              </a:lnSpc>
            </a:pPr>
            <a:r>
              <a:rPr lang="en-US" altLang="zh-CN" sz="4000" b="1" dirty="0">
                <a:solidFill>
                  <a:schemeClr val="bg2">
                    <a:lumMod val="90000"/>
                  </a:schemeClr>
                </a:solidFill>
              </a:rPr>
              <a:t>Datasets</a:t>
            </a:r>
            <a:r>
              <a:rPr lang="zh-CN" altLang="en-US" sz="40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altLang="zh-CN" sz="4000" b="1" dirty="0">
                <a:solidFill>
                  <a:schemeClr val="bg2">
                    <a:lumMod val="90000"/>
                  </a:schemeClr>
                </a:solidFill>
              </a:rPr>
              <a:t>by</a:t>
            </a:r>
            <a:r>
              <a:rPr lang="zh-CN" altLang="en-US" sz="40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altLang="zh-CN" sz="4000" b="1" dirty="0">
                <a:solidFill>
                  <a:schemeClr val="bg2">
                    <a:lumMod val="90000"/>
                  </a:schemeClr>
                </a:solidFill>
              </a:rPr>
              <a:t>task</a:t>
            </a:r>
            <a:r>
              <a:rPr lang="zh-CN" altLang="en-US" sz="40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altLang="zh-CN" sz="4000" b="1" dirty="0">
                <a:solidFill>
                  <a:schemeClr val="bg2">
                    <a:lumMod val="90000"/>
                  </a:schemeClr>
                </a:solidFill>
              </a:rPr>
              <a:t>types</a:t>
            </a:r>
            <a:endParaRPr lang="en-CN" sz="4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0A055-08BD-4EFD-ED7B-AADE9047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32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301259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EE098-6341-5FF6-B22F-C0985FA40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Datasets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587BF-890E-6592-CF36-33310C303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497" y="984643"/>
            <a:ext cx="9215153" cy="4607556"/>
          </a:xfrm>
        </p:spPr>
        <p:txBody>
          <a:bodyPr>
            <a:noAutofit/>
          </a:bodyPr>
          <a:lstStyle/>
          <a:p>
            <a:pPr>
              <a:spcAft>
                <a:spcPts val="1200"/>
              </a:spcAft>
            </a:pPr>
            <a:r>
              <a:rPr lang="en-US" sz="2000" dirty="0"/>
              <a:t>MMLU - Multiple choice questions in 57 subjects (professional &amp; academic)</a:t>
            </a:r>
          </a:p>
          <a:p>
            <a:pPr>
              <a:spcAft>
                <a:spcPts val="1200"/>
              </a:spcAft>
            </a:pPr>
            <a:r>
              <a:rPr lang="en-US" sz="2000" dirty="0"/>
              <a:t>ARC - AI2 Reasoning Challenge, grade school multiple choice science quiz</a:t>
            </a:r>
          </a:p>
          <a:p>
            <a:pPr>
              <a:spcAft>
                <a:spcPts val="1200"/>
              </a:spcAft>
            </a:pPr>
            <a:r>
              <a:rPr lang="en-US" sz="2000" dirty="0"/>
              <a:t>WinoGrande - bigger version of the Winograd Schema Challenge from GLUE</a:t>
            </a:r>
          </a:p>
          <a:p>
            <a:pPr>
              <a:spcAft>
                <a:spcPts val="1200"/>
              </a:spcAft>
            </a:pPr>
            <a:r>
              <a:rPr lang="en-US" sz="2000" dirty="0"/>
              <a:t>DROP - Reading comprehension &amp; arithmetic</a:t>
            </a:r>
          </a:p>
          <a:p>
            <a:pPr>
              <a:spcAft>
                <a:spcPts val="1200"/>
              </a:spcAft>
            </a:pPr>
            <a:r>
              <a:rPr lang="en-US" sz="2000" dirty="0"/>
              <a:t>GSM-8K - Grade school math questions</a:t>
            </a:r>
          </a:p>
          <a:p>
            <a:pPr>
              <a:spcAft>
                <a:spcPts val="1200"/>
              </a:spcAft>
            </a:pPr>
            <a:r>
              <a:rPr lang="en-US" sz="2000" dirty="0" err="1"/>
              <a:t>BLiMP</a:t>
            </a:r>
            <a:r>
              <a:rPr lang="en-US" sz="2000" dirty="0"/>
              <a:t> - Benchmark of minimal linguistic pairs; new version of </a:t>
            </a:r>
            <a:r>
              <a:rPr lang="en-US" sz="2000" dirty="0" err="1"/>
              <a:t>CoLA</a:t>
            </a:r>
            <a:endParaRPr lang="en-US" sz="2000" dirty="0"/>
          </a:p>
          <a:p>
            <a:pPr>
              <a:spcAft>
                <a:spcPts val="1200"/>
              </a:spcAft>
            </a:pPr>
            <a:r>
              <a:rPr lang="en-US" sz="2000" dirty="0"/>
              <a:t>HumanEval</a:t>
            </a:r>
            <a:r>
              <a:rPr lang="zh-CN" altLang="en-US" sz="2000" dirty="0"/>
              <a:t> </a:t>
            </a:r>
            <a:r>
              <a:rPr lang="en-US" altLang="zh-CN" sz="2000" dirty="0"/>
              <a:t>-</a:t>
            </a:r>
            <a:r>
              <a:rPr lang="zh-CN" altLang="en-US" sz="2000" dirty="0"/>
              <a:t> </a:t>
            </a:r>
            <a:r>
              <a:rPr lang="en-US" altLang="zh-CN" sz="2000" dirty="0"/>
              <a:t>Evaluating large language models trained on code</a:t>
            </a: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3294A8-6728-9DBC-4B0F-BA4501527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33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075576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BC4E6-7726-6A15-9519-B3BAFE9F8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1349768"/>
            <a:ext cx="5653087" cy="844792"/>
          </a:xfrm>
        </p:spPr>
        <p:txBody>
          <a:bodyPr/>
          <a:lstStyle/>
          <a:p>
            <a:r>
              <a:rPr lang="en-US" altLang="zh-CN" dirty="0"/>
              <a:t>Lambada</a:t>
            </a:r>
            <a:r>
              <a:rPr lang="zh-CN" altLang="en-US" dirty="0"/>
              <a:t> </a:t>
            </a:r>
            <a:r>
              <a:rPr lang="en-US" altLang="zh-CN" dirty="0">
                <a:hlinkClick r:id="rId3"/>
              </a:rPr>
              <a:t>dataset</a:t>
            </a:r>
            <a:endParaRPr lang="en-US" altLang="zh-CN" dirty="0"/>
          </a:p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DFC173-E91F-930F-20FF-AA30DDDA6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34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084864-DFEF-61CA-CF24-C5119EE0A87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3903"/>
          <a:stretch/>
        </p:blipFill>
        <p:spPr>
          <a:xfrm>
            <a:off x="442912" y="1951748"/>
            <a:ext cx="10487159" cy="42281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EEA02A-4124-72CC-AD00-2A5FFCFABE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0053" y="484964"/>
            <a:ext cx="5227319" cy="13576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47B4F76-8B1C-DACC-C49C-2B789501DBC4}"/>
              </a:ext>
            </a:extLst>
          </p:cNvPr>
          <p:cNvSpPr txBox="1"/>
          <p:nvPr/>
        </p:nvSpPr>
        <p:spPr>
          <a:xfrm>
            <a:off x="168592" y="6398081"/>
            <a:ext cx="40708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  <a:hlinkClick r:id="rId6"/>
              </a:rPr>
              <a:t>https://</a:t>
            </a:r>
            <a:r>
              <a:rPr lang="en-US" altLang="zh-CN" dirty="0" err="1">
                <a:solidFill>
                  <a:srgbClr val="00B050"/>
                </a:solidFill>
                <a:hlinkClick r:id="rId6"/>
              </a:rPr>
              <a:t>zenodo.org</a:t>
            </a:r>
            <a:r>
              <a:rPr lang="en-US" altLang="zh-CN" dirty="0">
                <a:solidFill>
                  <a:srgbClr val="00B050"/>
                </a:solidFill>
                <a:hlinkClick r:id="rId6"/>
              </a:rPr>
              <a:t>/records/2630551</a:t>
            </a:r>
            <a:endParaRPr lang="en-CN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60AB434-6FCF-A0AF-D661-F72BB4E229BD}"/>
              </a:ext>
            </a:extLst>
          </p:cNvPr>
          <p:cNvSpPr txBox="1">
            <a:spLocks/>
          </p:cNvSpPr>
          <p:nvPr/>
        </p:nvSpPr>
        <p:spPr>
          <a:xfrm>
            <a:off x="471487" y="417509"/>
            <a:ext cx="5944553" cy="610388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0E419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Other Datasets</a:t>
            </a:r>
            <a:r>
              <a:rPr lang="zh-CN" altLang="en-US" dirty="0"/>
              <a:t> </a:t>
            </a:r>
            <a:r>
              <a:rPr lang="en-US" altLang="zh-CN" sz="2800" dirty="0">
                <a:solidFill>
                  <a:srgbClr val="00B050"/>
                </a:solidFill>
              </a:rPr>
              <a:t>Lambada</a:t>
            </a:r>
            <a:endParaRPr lang="en-CN" dirty="0">
              <a:solidFill>
                <a:srgbClr val="00B05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D74CBC-C596-C167-4CA2-D4805BDDD046}"/>
              </a:ext>
            </a:extLst>
          </p:cNvPr>
          <p:cNvSpPr txBox="1"/>
          <p:nvPr/>
        </p:nvSpPr>
        <p:spPr>
          <a:xfrm>
            <a:off x="7404561" y="6519446"/>
            <a:ext cx="44826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600" dirty="0">
                <a:hlinkClick r:id="rId7"/>
              </a:rPr>
              <a:t>https://huggingface.co/datasets/cimec/lambada</a:t>
            </a:r>
            <a:r>
              <a:rPr lang="zh-CN" altLang="en-US" sz="1600" dirty="0"/>
              <a:t> </a:t>
            </a:r>
            <a:endParaRPr lang="en-CN" sz="1600" dirty="0"/>
          </a:p>
        </p:txBody>
      </p:sp>
    </p:spTree>
    <p:extLst>
      <p:ext uri="{BB962C8B-B14F-4D97-AF65-F5344CB8AC3E}">
        <p14:creationId xmlns:p14="http://schemas.microsoft.com/office/powerpoint/2010/main" val="3529122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861FB-4B03-0B45-9432-88731F666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Datasets</a:t>
            </a:r>
            <a:r>
              <a:rPr lang="zh-CN" altLang="en-US" dirty="0"/>
              <a:t> </a:t>
            </a:r>
            <a:r>
              <a:rPr lang="en-US" altLang="zh-CN" sz="2800" dirty="0">
                <a:solidFill>
                  <a:srgbClr val="00B050"/>
                </a:solidFill>
              </a:rPr>
              <a:t>MMLU</a:t>
            </a:r>
            <a:endParaRPr lang="en-CN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A9B13-0158-0C45-AF6C-28EBFB79A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497" y="984643"/>
            <a:ext cx="11064875" cy="980184"/>
          </a:xfrm>
        </p:spPr>
        <p:txBody>
          <a:bodyPr/>
          <a:lstStyle/>
          <a:p>
            <a:pPr>
              <a:spcBef>
                <a:spcPts val="400"/>
              </a:spcBef>
              <a:spcAft>
                <a:spcPts val="1200"/>
              </a:spcAft>
            </a:pPr>
            <a:r>
              <a:rPr lang="en-US" sz="2000" dirty="0"/>
              <a:t>Measuring Massive Multitask Language Understanding</a:t>
            </a:r>
            <a:r>
              <a:rPr lang="zh-CN" altLang="en-US" sz="2000" dirty="0"/>
              <a:t> </a:t>
            </a:r>
            <a:r>
              <a:rPr lang="en-US" altLang="zh-CN" sz="2000" dirty="0"/>
              <a:t>(</a:t>
            </a:r>
            <a:r>
              <a:rPr lang="en-US" altLang="zh-CN" sz="2000" dirty="0">
                <a:hlinkClick r:id="rId3"/>
              </a:rPr>
              <a:t>MMLU</a:t>
            </a:r>
            <a:r>
              <a:rPr lang="en-US" altLang="zh-CN" sz="2000" dirty="0"/>
              <a:t>)</a:t>
            </a:r>
            <a:endParaRPr lang="en-US" sz="2000" dirty="0"/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lang="en-US" sz="2000" dirty="0"/>
              <a:t>Multiple choice questions in 57 subjects (professional &amp; academic)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E51AF7-9CBE-6E49-ADD7-40A2BD4FA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35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F60E33-BE56-C4BB-BD5B-5C84AC633F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1" y="3714470"/>
            <a:ext cx="6927050" cy="27784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11A81E-AA5E-D1DE-0B66-EFFC7E858F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6937" y="3714470"/>
            <a:ext cx="4635976" cy="26984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1B91F39-C07C-7904-DCED-63FAA0197E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2792" y="1713166"/>
            <a:ext cx="2265359" cy="18239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3D86291-23AE-0889-93EA-988E48B796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40397" y="1927684"/>
            <a:ext cx="5485770" cy="14938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2D4C246-27C9-B22B-ACE1-618A02FB94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3271" y="781744"/>
            <a:ext cx="3770326" cy="754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8908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3F74C3-8166-A901-FE67-828A00510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36</a:t>
            </a:fld>
            <a:endParaRPr lang="zh-CN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1DF8001-AD95-D2F3-7AB1-0418D6D63DC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6689" y="984250"/>
            <a:ext cx="6456996" cy="550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73A4384-E714-7417-2580-E81F6A158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87" y="265109"/>
            <a:ext cx="11553826" cy="610388"/>
          </a:xfrm>
        </p:spPr>
        <p:txBody>
          <a:bodyPr/>
          <a:lstStyle/>
          <a:p>
            <a:r>
              <a:rPr lang="en-US" dirty="0"/>
              <a:t>Other Datasets</a:t>
            </a:r>
            <a:r>
              <a:rPr lang="zh-CN" altLang="en-US" dirty="0"/>
              <a:t> </a:t>
            </a:r>
            <a:r>
              <a:rPr lang="en-US" altLang="zh-CN" sz="2800" dirty="0">
                <a:solidFill>
                  <a:srgbClr val="00B050"/>
                </a:solidFill>
              </a:rPr>
              <a:t>MMLU</a:t>
            </a:r>
            <a:endParaRPr lang="en-CN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7660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E4199-911D-1442-A257-ED5BF78A1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Datasets</a:t>
            </a:r>
            <a:r>
              <a:rPr lang="zh-CN" altLang="en-US" dirty="0"/>
              <a:t> </a:t>
            </a:r>
            <a:r>
              <a:rPr lang="en-US" altLang="zh-CN" sz="2800" dirty="0">
                <a:solidFill>
                  <a:srgbClr val="00B050"/>
                </a:solidFill>
              </a:rPr>
              <a:t>ARC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F16E4-B1E9-454E-8F68-B2B8798EA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493" y="878128"/>
            <a:ext cx="5506261" cy="821718"/>
          </a:xfrm>
        </p:spPr>
        <p:txBody>
          <a:bodyPr>
            <a:noAutofit/>
          </a:bodyPr>
          <a:lstStyle/>
          <a:p>
            <a:r>
              <a:rPr lang="en-US" sz="2000" dirty="0"/>
              <a:t>AI2 Reasoning Challenge, grade school multiple choice science quiz</a:t>
            </a:r>
            <a:r>
              <a:rPr lang="zh-CN" altLang="en-US" sz="2000" dirty="0"/>
              <a:t> </a:t>
            </a:r>
            <a:r>
              <a:rPr lang="en-US" altLang="zh-CN" sz="2000" dirty="0"/>
              <a:t>(</a:t>
            </a:r>
            <a:r>
              <a:rPr lang="en-US" altLang="zh-CN" sz="2000" dirty="0">
                <a:hlinkClick r:id="rId3"/>
              </a:rPr>
              <a:t>ARC</a:t>
            </a:r>
            <a:r>
              <a:rPr lang="en-US" altLang="zh-CN" sz="2000" dirty="0"/>
              <a:t>)</a:t>
            </a:r>
            <a:endParaRPr lang="en-C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C9CDA-5CFA-BD4B-B753-75EB8FBB0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37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CAF18C-3955-FA43-9CA0-6C72CD57C5F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9574" b="45498"/>
          <a:stretch/>
        </p:blipFill>
        <p:spPr>
          <a:xfrm>
            <a:off x="7623923" y="1064798"/>
            <a:ext cx="4306583" cy="4760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45F5EA-A52F-0F41-B9E8-4BBB5E63442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85508"/>
          <a:stretch/>
        </p:blipFill>
        <p:spPr>
          <a:xfrm>
            <a:off x="7623924" y="614405"/>
            <a:ext cx="4306583" cy="4621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ED9C2B-5EF3-5F4D-8DC4-60C801C758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1546" y="1730135"/>
            <a:ext cx="9859995" cy="46209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1177344-9AEB-0369-F241-D7EF009B131B}"/>
              </a:ext>
            </a:extLst>
          </p:cNvPr>
          <p:cNvSpPr txBox="1"/>
          <p:nvPr/>
        </p:nvSpPr>
        <p:spPr>
          <a:xfrm>
            <a:off x="7489599" y="6492875"/>
            <a:ext cx="45752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600" dirty="0">
                <a:hlinkClick r:id="rId6"/>
              </a:rPr>
              <a:t>https://huggingface.co/datasets/allenai/ai2_arc</a:t>
            </a:r>
            <a:r>
              <a:rPr lang="zh-CN" altLang="en-US" sz="1600" dirty="0"/>
              <a:t> </a:t>
            </a:r>
            <a:endParaRPr lang="en-CN" sz="1600" dirty="0"/>
          </a:p>
        </p:txBody>
      </p:sp>
    </p:spTree>
    <p:extLst>
      <p:ext uri="{BB962C8B-B14F-4D97-AF65-F5344CB8AC3E}">
        <p14:creationId xmlns:p14="http://schemas.microsoft.com/office/powerpoint/2010/main" val="6880470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C9442-29CE-BB47-A6B6-9E7397FD6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Datasets</a:t>
            </a:r>
            <a:r>
              <a:rPr lang="zh-CN" altLang="en-US" dirty="0"/>
              <a:t> </a:t>
            </a:r>
            <a:r>
              <a:rPr lang="en-US" sz="2800" dirty="0">
                <a:solidFill>
                  <a:srgbClr val="00B050"/>
                </a:solidFill>
              </a:rPr>
              <a:t>WinoGrande</a:t>
            </a:r>
            <a:endParaRPr lang="en-CN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814E8-0A2E-AF45-AAC0-92D59E83E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575" y="1170888"/>
            <a:ext cx="7958278" cy="498253"/>
          </a:xfrm>
        </p:spPr>
        <p:txBody>
          <a:bodyPr>
            <a:normAutofit/>
          </a:bodyPr>
          <a:lstStyle/>
          <a:p>
            <a:r>
              <a:rPr lang="en-US" sz="2000" dirty="0"/>
              <a:t>Commonsense reasoning around</a:t>
            </a:r>
            <a:r>
              <a:rPr lang="zh-CN" altLang="en-US" sz="2000" dirty="0"/>
              <a:t> </a:t>
            </a:r>
            <a:r>
              <a:rPr lang="en-US" sz="2000" dirty="0"/>
              <a:t>pronoun resolution</a:t>
            </a:r>
            <a:r>
              <a:rPr lang="zh-CN" altLang="en-US" sz="2000" dirty="0"/>
              <a:t> </a:t>
            </a:r>
            <a:r>
              <a:rPr lang="en-US" altLang="zh-CN" sz="2000" dirty="0"/>
              <a:t>(</a:t>
            </a:r>
            <a:r>
              <a:rPr lang="en-US" altLang="zh-CN" sz="2000" dirty="0">
                <a:hlinkClick r:id="rId3"/>
              </a:rPr>
              <a:t>WinoGrande</a:t>
            </a:r>
            <a:r>
              <a:rPr lang="en-US" altLang="zh-CN" sz="2000" dirty="0"/>
              <a:t>)</a:t>
            </a:r>
            <a:endParaRPr lang="en-C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331BD0-5312-EA4E-A05B-B03EB564B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38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FAE0B7-3A45-0E44-9C58-4E43D15FC9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395" y="1964532"/>
            <a:ext cx="10907210" cy="35640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73BB78-8053-7D46-9CB7-EC54DDE159C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-11002" t="53048" r="-3176" b="35502"/>
          <a:stretch/>
        </p:blipFill>
        <p:spPr>
          <a:xfrm>
            <a:off x="7243073" y="845973"/>
            <a:ext cx="4917121" cy="3651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FA0490-F9B2-7A4F-95DD-06C7D139A25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85508"/>
          <a:stretch/>
        </p:blipFill>
        <p:spPr>
          <a:xfrm>
            <a:off x="7717395" y="387930"/>
            <a:ext cx="4306583" cy="4621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7556C53-C8DC-3F93-6388-9CF2EBF886AC}"/>
              </a:ext>
            </a:extLst>
          </p:cNvPr>
          <p:cNvSpPr txBox="1"/>
          <p:nvPr/>
        </p:nvSpPr>
        <p:spPr>
          <a:xfrm>
            <a:off x="5326380" y="6408225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dirty="0">
                <a:hlinkClick r:id="rId6"/>
              </a:rPr>
              <a:t>https://huggingface.co/datasets/allenai/winogrande</a:t>
            </a:r>
            <a:r>
              <a:rPr lang="zh-CN" altLang="en-US" dirty="0"/>
              <a:t> 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048993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C9B30-7225-C14E-B4AB-A3A895197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Datasets</a:t>
            </a:r>
            <a:r>
              <a:rPr lang="zh-CN" altLang="en-US" dirty="0"/>
              <a:t> </a:t>
            </a:r>
            <a:r>
              <a:rPr lang="en-US" altLang="zh-CN" sz="2800" dirty="0">
                <a:solidFill>
                  <a:srgbClr val="00B050"/>
                </a:solidFill>
              </a:rPr>
              <a:t>DROP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404FC-EDFD-A541-A4E7-E9F292297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022" y="748722"/>
            <a:ext cx="7549372" cy="475711"/>
          </a:xfrm>
        </p:spPr>
        <p:txBody>
          <a:bodyPr>
            <a:normAutofit/>
          </a:bodyPr>
          <a:lstStyle/>
          <a:p>
            <a:r>
              <a:rPr lang="en-US" sz="2000" dirty="0"/>
              <a:t>Discrete</a:t>
            </a:r>
            <a:r>
              <a:rPr lang="zh-CN" altLang="en-US" sz="2000" dirty="0"/>
              <a:t> </a:t>
            </a:r>
            <a:r>
              <a:rPr lang="en-US" sz="2000" dirty="0"/>
              <a:t>Reasoning Over the content of Paragraph</a:t>
            </a:r>
            <a:r>
              <a:rPr lang="en-US" altLang="zh-CN" sz="2000" dirty="0"/>
              <a:t>s</a:t>
            </a:r>
            <a:r>
              <a:rPr lang="zh-CN" altLang="en-US" sz="2000" dirty="0"/>
              <a:t> </a:t>
            </a:r>
            <a:r>
              <a:rPr lang="en-US" altLang="zh-CN" sz="2000" dirty="0"/>
              <a:t>(</a:t>
            </a:r>
            <a:r>
              <a:rPr lang="en-US" altLang="zh-CN" sz="2000" dirty="0">
                <a:hlinkClick r:id="rId3"/>
              </a:rPr>
              <a:t>DROP</a:t>
            </a:r>
            <a:r>
              <a:rPr lang="en-US" altLang="zh-CN" sz="2000" dirty="0"/>
              <a:t>)</a:t>
            </a:r>
            <a:endParaRPr lang="en-C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99CE7-A5AE-F74E-A4AB-D522276E3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39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BC38C9-93E7-E54A-BEC6-293BA857586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1184"/>
          <a:stretch/>
        </p:blipFill>
        <p:spPr>
          <a:xfrm>
            <a:off x="1022486" y="1443755"/>
            <a:ext cx="9844897" cy="49961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493008-271F-3346-9783-0CE088D0BDBE}"/>
              </a:ext>
            </a:extLst>
          </p:cNvPr>
          <p:cNvSpPr txBox="1"/>
          <p:nvPr/>
        </p:nvSpPr>
        <p:spPr>
          <a:xfrm>
            <a:off x="8654404" y="6440562"/>
            <a:ext cx="30674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The</a:t>
            </a:r>
            <a:r>
              <a:rPr lang="zh-CN" altLang="en-US" sz="1400" dirty="0"/>
              <a:t> </a:t>
            </a:r>
            <a:r>
              <a:rPr lang="en-US" altLang="zh-CN" sz="1400" dirty="0"/>
              <a:t>reference</a:t>
            </a:r>
            <a:r>
              <a:rPr lang="zh-CN" altLang="en-US" sz="1400" dirty="0"/>
              <a:t> </a:t>
            </a:r>
            <a:r>
              <a:rPr lang="en-US" altLang="zh-CN" sz="1400" dirty="0"/>
              <a:t>model</a:t>
            </a:r>
            <a:r>
              <a:rPr lang="zh-CN" altLang="en-US" sz="1400" dirty="0"/>
              <a:t> </a:t>
            </a:r>
            <a:r>
              <a:rPr lang="en-US" altLang="zh-CN" sz="1400" dirty="0"/>
              <a:t>is</a:t>
            </a:r>
            <a:r>
              <a:rPr lang="zh-CN" altLang="en-US" sz="1400" dirty="0"/>
              <a:t> </a:t>
            </a:r>
            <a:r>
              <a:rPr lang="en-US" altLang="zh-CN" sz="1400" dirty="0">
                <a:hlinkClick r:id="rId5"/>
              </a:rPr>
              <a:t>BiDAF</a:t>
            </a:r>
            <a:r>
              <a:rPr lang="zh-CN" altLang="en-US" sz="1400" dirty="0">
                <a:hlinkClick r:id="rId5"/>
              </a:rPr>
              <a:t> </a:t>
            </a:r>
            <a:r>
              <a:rPr lang="en-US" altLang="zh-CN" sz="1400" dirty="0">
                <a:hlinkClick r:id="rId5"/>
              </a:rPr>
              <a:t>model</a:t>
            </a:r>
            <a:endParaRPr lang="en-CN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CCE5-3CC4-5742-96B5-B07B8AD98E7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73951" b="14599"/>
          <a:stretch/>
        </p:blipFill>
        <p:spPr>
          <a:xfrm>
            <a:off x="7717395" y="850046"/>
            <a:ext cx="4306583" cy="3651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8CD0882-7A42-FF4B-86BC-FBB86DDE9B6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85508"/>
          <a:stretch/>
        </p:blipFill>
        <p:spPr>
          <a:xfrm>
            <a:off x="7717395" y="387930"/>
            <a:ext cx="4306583" cy="4621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1FA04EF-DEF8-EA6A-DA97-9F2CD46ADEA4}"/>
              </a:ext>
            </a:extLst>
          </p:cNvPr>
          <p:cNvSpPr txBox="1"/>
          <p:nvPr/>
        </p:nvSpPr>
        <p:spPr>
          <a:xfrm>
            <a:off x="4370416" y="6519446"/>
            <a:ext cx="42083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600" dirty="0">
                <a:hlinkClick r:id="rId7"/>
              </a:rPr>
              <a:t>https://huggingface.co/datasets/ucinlp/drop</a:t>
            </a:r>
            <a:r>
              <a:rPr lang="zh-CN" altLang="en-US" sz="1600" dirty="0"/>
              <a:t> </a:t>
            </a:r>
            <a:endParaRPr lang="en-CN" sz="1600" dirty="0"/>
          </a:p>
        </p:txBody>
      </p:sp>
    </p:spTree>
    <p:extLst>
      <p:ext uri="{BB962C8B-B14F-4D97-AF65-F5344CB8AC3E}">
        <p14:creationId xmlns:p14="http://schemas.microsoft.com/office/powerpoint/2010/main" val="8857770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BB283-0CBD-1543-B5AB-BB152410F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Datasets</a:t>
            </a:r>
            <a:r>
              <a:rPr lang="zh-CN" altLang="en-US" dirty="0"/>
              <a:t> </a:t>
            </a:r>
            <a:r>
              <a:rPr lang="en-US" altLang="zh-CN" sz="2800" dirty="0">
                <a:solidFill>
                  <a:srgbClr val="00B050"/>
                </a:solidFill>
              </a:rPr>
              <a:t>GSM-8K</a:t>
            </a:r>
            <a:endParaRPr lang="en-CN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319A6-9E70-0343-9EBD-D476EBF01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575" y="738504"/>
            <a:ext cx="6488293" cy="462117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G</a:t>
            </a:r>
            <a:r>
              <a:rPr lang="en-US" sz="2400" dirty="0"/>
              <a:t>rade school math word problems</a:t>
            </a:r>
            <a:r>
              <a:rPr lang="zh-CN" altLang="en-US" sz="2400" dirty="0"/>
              <a:t> </a:t>
            </a:r>
            <a:r>
              <a:rPr lang="en-US" altLang="zh-CN" sz="2400" dirty="0"/>
              <a:t>(</a:t>
            </a:r>
            <a:r>
              <a:rPr lang="en-US" altLang="zh-CN" sz="2400" dirty="0">
                <a:hlinkClick r:id="rId3"/>
              </a:rPr>
              <a:t>GSM-8K</a:t>
            </a:r>
            <a:r>
              <a:rPr lang="en-US" altLang="zh-CN" sz="2400" dirty="0"/>
              <a:t>)</a:t>
            </a:r>
            <a:endParaRPr lang="en-C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08EB6F-4EF5-FD40-B5E7-E870730BC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40</a:t>
            </a:fld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81E8ED-54B8-AC4C-ADB2-8E6EDF41B8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4111" y="1547066"/>
            <a:ext cx="8923778" cy="47363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B19202-46B5-DD4C-99BD-69A067C8721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85508"/>
          <a:stretch/>
        </p:blipFill>
        <p:spPr>
          <a:xfrm>
            <a:off x="7717394" y="850046"/>
            <a:ext cx="4306583" cy="4621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57A3F2-9127-504D-8C7A-53E73D2E5EA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85508"/>
          <a:stretch/>
        </p:blipFill>
        <p:spPr>
          <a:xfrm>
            <a:off x="7717395" y="387930"/>
            <a:ext cx="4306583" cy="4621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1FAA33C-6D3E-58F0-F747-A43130F1F8A9}"/>
              </a:ext>
            </a:extLst>
          </p:cNvPr>
          <p:cNvSpPr txBox="1"/>
          <p:nvPr/>
        </p:nvSpPr>
        <p:spPr>
          <a:xfrm>
            <a:off x="7238307" y="6518326"/>
            <a:ext cx="45158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600" dirty="0">
                <a:hlinkClick r:id="rId6"/>
              </a:rPr>
              <a:t>https://huggingface.co/datasets/openai/gsm8k</a:t>
            </a:r>
            <a:r>
              <a:rPr lang="zh-CN" altLang="en-US" sz="1600" dirty="0"/>
              <a:t> </a:t>
            </a:r>
            <a:endParaRPr lang="en-CN" sz="1600" dirty="0"/>
          </a:p>
        </p:txBody>
      </p:sp>
    </p:spTree>
    <p:extLst>
      <p:ext uri="{BB962C8B-B14F-4D97-AF65-F5344CB8AC3E}">
        <p14:creationId xmlns:p14="http://schemas.microsoft.com/office/powerpoint/2010/main" val="26781568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CEF4A-F0B3-AE44-A148-D846E7DC4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Datasets</a:t>
            </a:r>
            <a:r>
              <a:rPr lang="zh-CN" altLang="en-US" dirty="0"/>
              <a:t> </a:t>
            </a:r>
            <a:r>
              <a:rPr lang="en-US" sz="2800" dirty="0">
                <a:solidFill>
                  <a:srgbClr val="00B050"/>
                </a:solidFill>
              </a:rPr>
              <a:t>BLiMP</a:t>
            </a:r>
            <a:endParaRPr lang="en-CN" dirty="0">
              <a:solidFill>
                <a:srgbClr val="00B05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0952F7-0672-1243-8B28-246B0AA791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69908" y="2476880"/>
            <a:ext cx="8882469" cy="427145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ECC90A-CA9D-E94D-B635-8687630CB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41</a:t>
            </a:fld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D7134E-0665-9442-819A-AFC68CA1734A}"/>
              </a:ext>
            </a:extLst>
          </p:cNvPr>
          <p:cNvSpPr txBox="1"/>
          <p:nvPr/>
        </p:nvSpPr>
        <p:spPr>
          <a:xfrm>
            <a:off x="168022" y="925763"/>
            <a:ext cx="10484355" cy="136023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CN" sz="2400" dirty="0"/>
              <a:t>The Benchmark of Linguistic Minimal Pairs (</a:t>
            </a:r>
            <a:r>
              <a:rPr lang="en-CN" sz="2400" dirty="0">
                <a:hlinkClick r:id="rId4"/>
              </a:rPr>
              <a:t>BLiMP</a:t>
            </a:r>
            <a:r>
              <a:rPr lang="en-CN" sz="2400" dirty="0"/>
              <a:t>)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400" dirty="0"/>
              <a:t>A</a:t>
            </a:r>
            <a:r>
              <a:rPr lang="en-CN" sz="2400" dirty="0"/>
              <a:t> challenge set</a:t>
            </a:r>
            <a:r>
              <a:rPr lang="zh-CN" altLang="en-US" sz="2400" dirty="0"/>
              <a:t> </a:t>
            </a:r>
            <a:r>
              <a:rPr lang="en-CN" sz="2400" dirty="0"/>
              <a:t>for evaluating the linguistic knowledge of</a:t>
            </a:r>
            <a:r>
              <a:rPr lang="zh-CN" altLang="en-US" sz="2400" dirty="0"/>
              <a:t> </a:t>
            </a:r>
            <a:r>
              <a:rPr lang="en-CN" sz="2400" dirty="0"/>
              <a:t>language models (LMs) on major grammatical phenomena in English</a:t>
            </a:r>
          </a:p>
        </p:txBody>
      </p:sp>
    </p:spTree>
    <p:extLst>
      <p:ext uri="{BB962C8B-B14F-4D97-AF65-F5344CB8AC3E}">
        <p14:creationId xmlns:p14="http://schemas.microsoft.com/office/powerpoint/2010/main" val="35161180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9CD8F-9D53-EBA0-6FFB-4FFEDE793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Datasets</a:t>
            </a:r>
            <a:r>
              <a:rPr lang="zh-CN" altLang="en-US" dirty="0"/>
              <a:t> </a:t>
            </a:r>
            <a:r>
              <a:rPr lang="en-US" sz="2800" dirty="0">
                <a:solidFill>
                  <a:srgbClr val="00B050"/>
                </a:solidFill>
              </a:rPr>
              <a:t>HumanEval</a:t>
            </a:r>
            <a:endParaRPr lang="en-C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94A7D5A-6037-9529-3DA9-FED63D17D9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8740" y="1027755"/>
            <a:ext cx="6344173" cy="532770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99C10-DE4B-7888-E786-8ED4F7D59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42</a:t>
            </a:fld>
            <a:endParaRPr lang="zh-CN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0CB177-7DB0-860B-5D37-2827878E2C9E}"/>
              </a:ext>
            </a:extLst>
          </p:cNvPr>
          <p:cNvSpPr txBox="1"/>
          <p:nvPr/>
        </p:nvSpPr>
        <p:spPr>
          <a:xfrm>
            <a:off x="608341" y="1583816"/>
            <a:ext cx="5399494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000" dirty="0"/>
              <a:t>T</a:t>
            </a:r>
            <a:r>
              <a:rPr lang="en-US" sz="2000" dirty="0"/>
              <a:t>he task of generating standalone Python functions from docstrings, and evaluate the</a:t>
            </a:r>
            <a:r>
              <a:rPr lang="zh-CN" altLang="en-US" sz="2000" dirty="0"/>
              <a:t> </a:t>
            </a:r>
            <a:r>
              <a:rPr lang="en-US" sz="2000" dirty="0"/>
              <a:t>correctness of code samples automatically through unit</a:t>
            </a:r>
            <a:r>
              <a:rPr lang="zh-CN" altLang="en-US" sz="2000" dirty="0"/>
              <a:t> </a:t>
            </a:r>
            <a:r>
              <a:rPr lang="en-US" sz="2000" dirty="0"/>
              <a:t>tests.</a:t>
            </a: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To accurately benchmark our model,</a:t>
            </a:r>
            <a:r>
              <a:rPr lang="zh-CN" altLang="en-US" sz="2000" dirty="0"/>
              <a:t> </a:t>
            </a:r>
            <a:r>
              <a:rPr lang="en-US" sz="2000" dirty="0"/>
              <a:t>we create a dataset of 164 original programming problems</a:t>
            </a:r>
            <a:r>
              <a:rPr lang="zh-CN" altLang="en-US" sz="2000" dirty="0"/>
              <a:t> </a:t>
            </a:r>
            <a:r>
              <a:rPr lang="en-US" sz="2000" dirty="0"/>
              <a:t>with unit tests.</a:t>
            </a: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These problems assess language</a:t>
            </a:r>
            <a:r>
              <a:rPr lang="zh-CN" altLang="en-US" sz="2000" dirty="0"/>
              <a:t> </a:t>
            </a:r>
            <a:r>
              <a:rPr lang="en-US" sz="2000" dirty="0"/>
              <a:t>comprehension, algorithms, and simple mathematics, with some</a:t>
            </a:r>
            <a:r>
              <a:rPr lang="zh-CN" altLang="en-US" sz="2000" dirty="0"/>
              <a:t> </a:t>
            </a:r>
            <a:r>
              <a:rPr lang="en-US" sz="2000" dirty="0"/>
              <a:t>comparable to simple software interview questions.</a:t>
            </a:r>
            <a:endParaRPr lang="en-CN" sz="2000" dirty="0"/>
          </a:p>
        </p:txBody>
      </p:sp>
    </p:spTree>
    <p:extLst>
      <p:ext uri="{BB962C8B-B14F-4D97-AF65-F5344CB8AC3E}">
        <p14:creationId xmlns:p14="http://schemas.microsoft.com/office/powerpoint/2010/main" val="22745362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FE0D9-688C-F55D-A708-0713947B9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7605E-6E5F-8CEC-C213-1A7018A86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zh-CN" sz="4000" b="1" dirty="0">
                <a:solidFill>
                  <a:schemeClr val="bg2">
                    <a:lumMod val="90000"/>
                  </a:schemeClr>
                </a:solidFill>
              </a:rPr>
              <a:t>GLUE/SuperGLUE</a:t>
            </a:r>
          </a:p>
          <a:p>
            <a:pPr>
              <a:lnSpc>
                <a:spcPct val="150000"/>
              </a:lnSpc>
            </a:pPr>
            <a:r>
              <a:rPr lang="en-US" altLang="zh-CN" sz="4000" b="1" dirty="0">
                <a:solidFill>
                  <a:schemeClr val="bg2">
                    <a:lumMod val="90000"/>
                  </a:schemeClr>
                </a:solidFill>
              </a:rPr>
              <a:t>SWAG/HellaSWAG</a:t>
            </a:r>
          </a:p>
          <a:p>
            <a:pPr>
              <a:lnSpc>
                <a:spcPct val="150000"/>
              </a:lnSpc>
            </a:pPr>
            <a:r>
              <a:rPr lang="en-US" altLang="zh-CN" sz="4000" b="1" dirty="0">
                <a:solidFill>
                  <a:schemeClr val="bg2">
                    <a:lumMod val="90000"/>
                  </a:schemeClr>
                </a:solidFill>
              </a:rPr>
              <a:t>Lambada</a:t>
            </a:r>
          </a:p>
          <a:p>
            <a:pPr>
              <a:lnSpc>
                <a:spcPct val="150000"/>
              </a:lnSpc>
            </a:pPr>
            <a:r>
              <a:rPr lang="en-US" altLang="zh-CN" sz="4000" b="1" dirty="0">
                <a:solidFill>
                  <a:schemeClr val="bg2">
                    <a:lumMod val="90000"/>
                  </a:schemeClr>
                </a:solidFill>
              </a:rPr>
              <a:t>Other</a:t>
            </a:r>
            <a:r>
              <a:rPr lang="zh-CN" altLang="en-US" sz="4000" b="1" dirty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altLang="zh-CN" sz="4000" b="1" dirty="0">
                <a:solidFill>
                  <a:schemeClr val="bg2">
                    <a:lumMod val="90000"/>
                  </a:schemeClr>
                </a:solidFill>
              </a:rPr>
              <a:t>datasets</a:t>
            </a:r>
          </a:p>
          <a:p>
            <a:pPr>
              <a:lnSpc>
                <a:spcPct val="150000"/>
              </a:lnSpc>
            </a:pPr>
            <a:r>
              <a:rPr lang="en-US" altLang="zh-CN" sz="4000" b="1" dirty="0"/>
              <a:t>Datasets</a:t>
            </a:r>
            <a:r>
              <a:rPr lang="zh-CN" altLang="en-US" sz="4000" b="1" dirty="0"/>
              <a:t> </a:t>
            </a:r>
            <a:r>
              <a:rPr lang="en-US" altLang="zh-CN" sz="4000" b="1" dirty="0"/>
              <a:t>by</a:t>
            </a:r>
            <a:r>
              <a:rPr lang="zh-CN" altLang="en-US" sz="4000" b="1" dirty="0"/>
              <a:t> </a:t>
            </a:r>
            <a:r>
              <a:rPr lang="en-US" altLang="zh-CN" sz="4000" b="1" dirty="0"/>
              <a:t>task</a:t>
            </a:r>
            <a:r>
              <a:rPr lang="zh-CN" altLang="en-US" sz="4000" b="1" dirty="0"/>
              <a:t> </a:t>
            </a:r>
            <a:r>
              <a:rPr lang="en-US" altLang="zh-CN" sz="4000" b="1" dirty="0"/>
              <a:t>types</a:t>
            </a:r>
            <a:endParaRPr lang="en-CN" sz="4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0A055-08BD-4EFD-ED7B-AADE9047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43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13350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6E954-B8D5-A149-9E1A-5B0AE6CC9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Answering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43192-082C-904A-9CE0-D6FCBBCEA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1154036"/>
            <a:ext cx="8995811" cy="3693872"/>
          </a:xfrm>
        </p:spPr>
        <p:txBody>
          <a:bodyPr/>
          <a:lstStyle/>
          <a:p>
            <a:r>
              <a:rPr lang="en-US" dirty="0"/>
              <a:t>Natural Questions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en-US" altLang="zh-CN" dirty="0">
                <a:hlinkClick r:id="rId2"/>
              </a:rPr>
              <a:t>Natural</a:t>
            </a:r>
            <a:r>
              <a:rPr lang="zh-CN" altLang="en-US" dirty="0">
                <a:hlinkClick r:id="rId2"/>
              </a:rPr>
              <a:t> </a:t>
            </a:r>
            <a:r>
              <a:rPr lang="en-US" altLang="zh-CN" dirty="0">
                <a:hlinkClick r:id="rId2"/>
              </a:rPr>
              <a:t>Questions</a:t>
            </a:r>
            <a:r>
              <a:rPr lang="en-US" altLang="zh-CN" dirty="0"/>
              <a:t>)</a:t>
            </a:r>
            <a:endParaRPr lang="en-US" dirty="0"/>
          </a:p>
          <a:p>
            <a:r>
              <a:rPr lang="en-US" dirty="0"/>
              <a:t>Web Questions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en-US" altLang="zh-CN" dirty="0" err="1">
                <a:hlinkClick r:id="rId3"/>
              </a:rPr>
              <a:t>WebQuestions</a:t>
            </a:r>
            <a:r>
              <a:rPr lang="en-US" altLang="zh-CN" dirty="0"/>
              <a:t>)</a:t>
            </a:r>
            <a:endParaRPr lang="en-US" dirty="0"/>
          </a:p>
          <a:p>
            <a:r>
              <a:rPr lang="en-US" dirty="0"/>
              <a:t>TriviaQA</a:t>
            </a:r>
            <a:r>
              <a:rPr lang="zh-CN" altLang="en-US" dirty="0"/>
              <a:t> </a:t>
            </a: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altLang="zh-CN" dirty="0">
                <a:hlinkClick r:id="rId4"/>
              </a:rPr>
              <a:t>Large Scale Dataset for Reading Comprehension and Question Answering</a:t>
            </a:r>
            <a:endParaRPr lang="en-US" dirty="0"/>
          </a:p>
          <a:p>
            <a:r>
              <a:rPr lang="en-US" dirty="0"/>
              <a:t>COQA</a:t>
            </a:r>
            <a:r>
              <a:rPr lang="zh-CN" altLang="en-US" dirty="0"/>
              <a:t> </a:t>
            </a: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altLang="zh-CN" dirty="0">
                <a:hlinkClick r:id="rId5"/>
              </a:rPr>
              <a:t>Conversational Question Answering Challenge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43EEB8-A629-2340-BF2B-0BC8BB02F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44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195272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FC220-6050-5343-84D9-3F39EA4A1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Summarization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AE6F6-C7DE-5D46-93AD-E7A15F0FC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497" y="984643"/>
            <a:ext cx="8731503" cy="2554086"/>
          </a:xfrm>
        </p:spPr>
        <p:txBody>
          <a:bodyPr/>
          <a:lstStyle/>
          <a:p>
            <a:pPr>
              <a:spcBef>
                <a:spcPts val="400"/>
              </a:spcBef>
              <a:spcAft>
                <a:spcPts val="1200"/>
              </a:spcAft>
            </a:pPr>
            <a:r>
              <a:rPr lang="en-US" dirty="0"/>
              <a:t>CNN-Daily Mail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en-US" altLang="zh-CN" dirty="0">
                <a:hlinkClick r:id="rId2"/>
              </a:rPr>
              <a:t>Hugging</a:t>
            </a:r>
            <a:r>
              <a:rPr lang="zh-CN" altLang="en-US" dirty="0">
                <a:hlinkClick r:id="rId2"/>
              </a:rPr>
              <a:t> </a:t>
            </a:r>
            <a:r>
              <a:rPr lang="en-US" altLang="zh-CN" dirty="0">
                <a:hlinkClick r:id="rId2"/>
              </a:rPr>
              <a:t>Face</a:t>
            </a:r>
            <a:r>
              <a:rPr lang="zh-CN" altLang="en-US" dirty="0">
                <a:hlinkClick r:id="rId2"/>
              </a:rPr>
              <a:t> </a:t>
            </a:r>
            <a:r>
              <a:rPr lang="en-US" altLang="zh-CN" dirty="0">
                <a:hlinkClick r:id="rId2"/>
              </a:rPr>
              <a:t>location</a:t>
            </a:r>
            <a:r>
              <a:rPr lang="en-US" altLang="zh-CN" dirty="0"/>
              <a:t>)</a:t>
            </a:r>
            <a:endParaRPr lang="en-US" dirty="0"/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lang="en-US" dirty="0" err="1"/>
              <a:t>BookSum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en-US" altLang="zh-CN" dirty="0" err="1">
                <a:hlinkClick r:id="rId3"/>
              </a:rPr>
              <a:t>Booksum</a:t>
            </a:r>
            <a:r>
              <a:rPr lang="zh-CN" altLang="en-US" dirty="0">
                <a:hlinkClick r:id="rId3"/>
              </a:rPr>
              <a:t> </a:t>
            </a:r>
            <a:r>
              <a:rPr lang="en-US" altLang="zh-CN" dirty="0" err="1">
                <a:hlinkClick r:id="rId3"/>
              </a:rPr>
              <a:t>Github</a:t>
            </a:r>
            <a:r>
              <a:rPr lang="en-US" altLang="zh-CN" dirty="0"/>
              <a:t>)</a:t>
            </a:r>
            <a:endParaRPr lang="en-US" dirty="0"/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lang="en-US" dirty="0"/>
              <a:t>NYT dataset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en-US" altLang="zh-CN" dirty="0" err="1">
                <a:hlinkClick r:id="rId4"/>
              </a:rPr>
              <a:t>Paperswithcode</a:t>
            </a:r>
            <a:r>
              <a:rPr lang="en-US" altLang="zh-CN" dirty="0"/>
              <a:t>)</a:t>
            </a:r>
            <a:endParaRPr lang="en-US" dirty="0"/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lang="en-US" dirty="0"/>
              <a:t>DUC dataset (from NIST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 err="1">
                <a:hlinkClick r:id="rId5"/>
              </a:rPr>
              <a:t>Paperswithcode</a:t>
            </a:r>
            <a:r>
              <a:rPr lang="en-US" dirty="0"/>
              <a:t>)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6AA78E-5A9C-AF44-AD1B-4E787DC5A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45</a:t>
            </a:fld>
            <a:endParaRPr lang="zh-CN" alt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26DE120-5953-CD92-4DB4-1C39F9CF227D}"/>
              </a:ext>
            </a:extLst>
          </p:cNvPr>
          <p:cNvSpPr txBox="1">
            <a:spLocks/>
          </p:cNvSpPr>
          <p:nvPr/>
        </p:nvSpPr>
        <p:spPr>
          <a:xfrm>
            <a:off x="319087" y="3657138"/>
            <a:ext cx="11553826" cy="610388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0E419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Natural Language Generation</a:t>
            </a:r>
            <a:endParaRPr lang="en-C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2736F80-9C72-C309-DFD6-51C1C3F52E72}"/>
              </a:ext>
            </a:extLst>
          </p:cNvPr>
          <p:cNvSpPr txBox="1">
            <a:spLocks/>
          </p:cNvSpPr>
          <p:nvPr/>
        </p:nvSpPr>
        <p:spPr>
          <a:xfrm>
            <a:off x="442913" y="4604809"/>
            <a:ext cx="8600503" cy="19208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400"/>
              </a:spcBef>
              <a:spcAft>
                <a:spcPts val="1200"/>
              </a:spcAft>
            </a:pPr>
            <a:r>
              <a:rPr lang="en-US" dirty="0"/>
              <a:t>E2E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en-US" altLang="zh-CN" dirty="0">
                <a:hlinkClick r:id="rId6"/>
              </a:rPr>
              <a:t>Link</a:t>
            </a:r>
            <a:r>
              <a:rPr lang="en-US" altLang="zh-CN" dirty="0"/>
              <a:t>)</a:t>
            </a:r>
            <a:endParaRPr lang="en-US" dirty="0"/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lang="en-US" dirty="0" err="1"/>
              <a:t>WebNLG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en-US" altLang="zh-CN" dirty="0">
                <a:hlinkClick r:id="rId7"/>
              </a:rPr>
              <a:t>Hugging</a:t>
            </a:r>
            <a:r>
              <a:rPr lang="zh-CN" altLang="en-US" dirty="0">
                <a:hlinkClick r:id="rId7"/>
              </a:rPr>
              <a:t> </a:t>
            </a:r>
            <a:r>
              <a:rPr lang="en-US" altLang="zh-CN" dirty="0">
                <a:hlinkClick r:id="rId7"/>
              </a:rPr>
              <a:t>Face</a:t>
            </a:r>
            <a:r>
              <a:rPr lang="zh-CN" altLang="en-US" dirty="0">
                <a:hlinkClick r:id="rId7"/>
              </a:rPr>
              <a:t> </a:t>
            </a:r>
            <a:r>
              <a:rPr lang="en-US" altLang="zh-CN" dirty="0">
                <a:hlinkClick r:id="rId7"/>
              </a:rPr>
              <a:t>location</a:t>
            </a:r>
            <a:r>
              <a:rPr lang="en-US" altLang="zh-CN" dirty="0"/>
              <a:t>)</a:t>
            </a:r>
            <a:endParaRPr lang="en-US" dirty="0"/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lang="en-US" dirty="0"/>
              <a:t>DART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en-US" altLang="zh-CN" dirty="0">
                <a:hlinkClick r:id="rId8"/>
              </a:rPr>
              <a:t>Hugging</a:t>
            </a:r>
            <a:r>
              <a:rPr lang="zh-CN" altLang="en-US" dirty="0">
                <a:hlinkClick r:id="rId8"/>
              </a:rPr>
              <a:t> </a:t>
            </a:r>
            <a:r>
              <a:rPr lang="en-US" altLang="zh-CN" dirty="0">
                <a:hlinkClick r:id="rId8"/>
              </a:rPr>
              <a:t>Face</a:t>
            </a:r>
            <a:r>
              <a:rPr lang="zh-CN" altLang="en-US" dirty="0">
                <a:hlinkClick r:id="rId8"/>
              </a:rPr>
              <a:t> </a:t>
            </a:r>
            <a:r>
              <a:rPr lang="en-US" altLang="zh-CN" dirty="0">
                <a:hlinkClick r:id="rId8"/>
              </a:rPr>
              <a:t>location</a:t>
            </a:r>
            <a:r>
              <a:rPr lang="en-US" altLang="zh-CN" dirty="0"/>
              <a:t>)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7158609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1428F-D01E-C247-8EC3-49530C492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Translation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99759-805E-5249-AF24-3957E8794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FLORES-200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en-US" altLang="zh-CN" dirty="0">
                <a:hlinkClick r:id="rId2"/>
              </a:rPr>
              <a:t>Link</a:t>
            </a:r>
            <a:r>
              <a:rPr lang="en-US" altLang="zh-CN" dirty="0"/>
              <a:t>)</a:t>
            </a:r>
            <a:endParaRPr lang="en-US" dirty="0"/>
          </a:p>
          <a:p>
            <a:r>
              <a:rPr lang="en-US" dirty="0"/>
              <a:t>WMT 2014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en-US" altLang="zh-CN" dirty="0">
                <a:hlinkClick r:id="rId3"/>
              </a:rPr>
              <a:t>Link</a:t>
            </a:r>
            <a:r>
              <a:rPr lang="en-US" altLang="zh-CN" dirty="0"/>
              <a:t>)</a:t>
            </a:r>
            <a:endParaRPr lang="en-US" dirty="0"/>
          </a:p>
          <a:p>
            <a:r>
              <a:rPr lang="en-US" dirty="0"/>
              <a:t>OPUS-MT (</a:t>
            </a:r>
            <a:r>
              <a:rPr lang="en-US" altLang="zh-CN" dirty="0">
                <a:hlinkClick r:id="rId4"/>
              </a:rPr>
              <a:t>Link</a:t>
            </a:r>
            <a:r>
              <a:rPr lang="en-US" dirty="0"/>
              <a:t>)</a:t>
            </a:r>
          </a:p>
          <a:p>
            <a:r>
              <a:rPr lang="en-US" dirty="0"/>
              <a:t>LORELEI (low-resource languages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>
                <a:hlinkClick r:id="rId5"/>
              </a:rPr>
              <a:t>Link</a:t>
            </a:r>
            <a:r>
              <a:rPr lang="en-US" dirty="0"/>
              <a:t>)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81431C-B02A-AE45-9135-8901BB5A1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46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82278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E7B96-DF02-374E-B39A-8FFAAD9E6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Prediction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2C0BD-7754-F04F-9217-57B598C6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984642"/>
            <a:ext cx="11064875" cy="550823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CoNLL-2000 to CoNLL 2018 shared tasks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en-US" altLang="zh-CN" dirty="0">
                <a:hlinkClick r:id="rId2"/>
              </a:rPr>
              <a:t>Link</a:t>
            </a:r>
            <a:r>
              <a:rPr lang="en-US" altLang="zh-CN" dirty="0"/>
              <a:t>)</a:t>
            </a:r>
            <a:endParaRPr lang="en-US" dirty="0"/>
          </a:p>
          <a:p>
            <a:r>
              <a:rPr lang="en-US" dirty="0"/>
              <a:t>Entity linking to Wikipedia: AIDA-</a:t>
            </a:r>
            <a:r>
              <a:rPr lang="en-US" dirty="0" err="1"/>
              <a:t>CoNLL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en-US" altLang="zh-CN" dirty="0">
                <a:hlinkClick r:id="rId3"/>
              </a:rPr>
              <a:t>Link</a:t>
            </a:r>
            <a:r>
              <a:rPr lang="en-US" altLang="zh-CN" dirty="0"/>
              <a:t>)</a:t>
            </a:r>
            <a:endParaRPr lang="en-US" dirty="0"/>
          </a:p>
          <a:p>
            <a:r>
              <a:rPr lang="en-US" dirty="0"/>
              <a:t>Entity linking to other ontologies like UMLS (biomedical): </a:t>
            </a:r>
            <a:r>
              <a:rPr lang="en-US" dirty="0" err="1"/>
              <a:t>MedMentions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en-US" altLang="zh-CN" dirty="0">
                <a:hlinkClick r:id="rId4"/>
              </a:rPr>
              <a:t>Link</a:t>
            </a:r>
            <a:r>
              <a:rPr lang="en-US" altLang="zh-CN" dirty="0"/>
              <a:t>)</a:t>
            </a:r>
            <a:endParaRPr lang="en-US" dirty="0"/>
          </a:p>
          <a:p>
            <a:r>
              <a:rPr lang="en-US" dirty="0"/>
              <a:t>Dependency tree and Phrase Structure Parsing (Penn Treebank; </a:t>
            </a:r>
            <a:r>
              <a:rPr lang="en-US" dirty="0" err="1"/>
              <a:t>PropBank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>
                <a:hlinkClick r:id="rId5"/>
              </a:rPr>
              <a:t>Link</a:t>
            </a:r>
            <a:r>
              <a:rPr lang="en-US" dirty="0"/>
              <a:t>)</a:t>
            </a:r>
          </a:p>
          <a:p>
            <a:r>
              <a:rPr lang="en-US" dirty="0"/>
              <a:t>Morphological analysis of word constructions from morphemes (</a:t>
            </a:r>
            <a:r>
              <a:rPr lang="en-US" dirty="0" err="1"/>
              <a:t>Morphophon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>
                <a:hlinkClick r:id="rId6"/>
              </a:rPr>
              <a:t>Link</a:t>
            </a:r>
            <a:r>
              <a:rPr lang="en-US" dirty="0"/>
              <a:t>)</a:t>
            </a:r>
          </a:p>
          <a:p>
            <a:r>
              <a:rPr lang="en-US" dirty="0" err="1"/>
              <a:t>Wikipron</a:t>
            </a:r>
            <a:r>
              <a:rPr lang="en-US" dirty="0"/>
              <a:t> (word pronunciation modelling for 165 languages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>
                <a:hlinkClick r:id="rId7"/>
              </a:rPr>
              <a:t>Link</a:t>
            </a:r>
            <a:r>
              <a:rPr lang="en-US" dirty="0"/>
              <a:t>)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50C2FF-2AF9-9640-988D-64BCC16C8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47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854599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79D39-E348-6F20-7CA9-88E7CDBAD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Dynabench: </a:t>
            </a:r>
            <a:r>
              <a:rPr lang="en-US" sz="2800" dirty="0">
                <a:solidFill>
                  <a:srgbClr val="00B050"/>
                </a:solidFill>
              </a:rPr>
              <a:t>Rethinking Benchmarking in NLP</a:t>
            </a:r>
            <a:endParaRPr lang="en-CN" dirty="0">
              <a:solidFill>
                <a:srgbClr val="00B05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BCFFE3-BC7B-EEDA-74C1-233380A0C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48</a:t>
            </a:fld>
            <a:endParaRPr lang="zh-CN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3FCD0E-4A07-5A0A-3168-C9B5FE087172}"/>
              </a:ext>
            </a:extLst>
          </p:cNvPr>
          <p:cNvSpPr txBox="1"/>
          <p:nvPr/>
        </p:nvSpPr>
        <p:spPr>
          <a:xfrm>
            <a:off x="8097584" y="6417354"/>
            <a:ext cx="36819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dirty="0">
                <a:hlinkClick r:id="rId2"/>
              </a:rPr>
              <a:t>https://arxiv.org/pdf/2104.14337</a:t>
            </a:r>
            <a:r>
              <a:rPr lang="zh-CN" altLang="en-US" dirty="0"/>
              <a:t> </a:t>
            </a:r>
            <a:endParaRPr lang="en-C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08F5F7-69DA-6363-9AC3-DD98D9842E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7312" y="1002553"/>
            <a:ext cx="6757375" cy="44028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008A0C0-D0D8-FDF6-2910-13DD67260913}"/>
              </a:ext>
            </a:extLst>
          </p:cNvPr>
          <p:cNvSpPr txBox="1"/>
          <p:nvPr/>
        </p:nvSpPr>
        <p:spPr>
          <a:xfrm>
            <a:off x="2717312" y="5532431"/>
            <a:ext cx="75092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Benchmark saturation over time for popular</a:t>
            </a:r>
            <a:r>
              <a:rPr lang="zh-CN" altLang="en-US" dirty="0"/>
              <a:t> </a:t>
            </a:r>
            <a:r>
              <a:rPr lang="en-US" dirty="0"/>
              <a:t>benchmarks, normalized with initial performance at minus one and human performance at zero.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24335498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76100-1B52-9ED9-AF07-725192846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hlinkClick r:id="rId2"/>
              </a:rPr>
              <a:t>https://contextual.ai/plotting-progress-in-ai/</a:t>
            </a:r>
            <a:r>
              <a:rPr lang="zh-CN" altLang="en-US" sz="3600" dirty="0"/>
              <a:t> 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0BAB42-0259-64FB-2BB1-27EEB8485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49</a:t>
            </a:fld>
            <a:endParaRPr lang="zh-CN" alt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69552DD-E0DC-AB52-145B-2DB90874A82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526" y="875497"/>
            <a:ext cx="4987270" cy="3531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070F4C-33C7-412E-4E89-545E41DFDB09}"/>
              </a:ext>
            </a:extLst>
          </p:cNvPr>
          <p:cNvSpPr txBox="1"/>
          <p:nvPr/>
        </p:nvSpPr>
        <p:spPr>
          <a:xfrm>
            <a:off x="8010727" y="4504537"/>
            <a:ext cx="28161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dirty="0"/>
              <a:t>BIG-Bench Hard (BBH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  <a:endParaRPr lang="en-C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1FBC5C-577E-1D00-E86E-6B89A5CB0A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6595" y="1616439"/>
            <a:ext cx="6157609" cy="264749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09A9AC7-78EB-BF66-8386-A4B3AE5E450E}"/>
              </a:ext>
            </a:extLst>
          </p:cNvPr>
          <p:cNvSpPr txBox="1"/>
          <p:nvPr/>
        </p:nvSpPr>
        <p:spPr>
          <a:xfrm>
            <a:off x="7349247" y="5004877"/>
            <a:ext cx="36040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dirty="0">
                <a:hlinkClick r:id="rId5"/>
              </a:rPr>
              <a:t>https://arxiv.org/pdf/2210.09261</a:t>
            </a:r>
            <a:r>
              <a:rPr lang="zh-CN" altLang="en-US" dirty="0"/>
              <a:t> </a:t>
            </a:r>
            <a:endParaRPr lang="en-CN" dirty="0"/>
          </a:p>
        </p:txBody>
      </p:sp>
      <p:pic>
        <p:nvPicPr>
          <p:cNvPr id="3" name="Picture 2" descr="Progress on recent LLM benchmarks over time plot">
            <a:extLst>
              <a:ext uri="{FF2B5EF4-FFF2-40B4-BE49-F238E27FC236}">
                <a16:creationId xmlns:a16="http://schemas.microsoft.com/office/drawing/2014/main" id="{86920A9B-A75A-4EC5-52EA-D2C7443EAB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4201" y="4589497"/>
            <a:ext cx="2971920" cy="2228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227097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F35A7-F19F-806D-1850-041ADDD75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arcprize.org</a:t>
            </a:r>
            <a:r>
              <a:rPr lang="en-US" dirty="0">
                <a:hlinkClick r:id="rId2"/>
              </a:rPr>
              <a:t>/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1F9D4F-23C5-594E-A0A6-4AE04D138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50</a:t>
            </a:fld>
            <a:endParaRPr lang="zh-CN" altLang="en-US" dirty="0"/>
          </a:p>
        </p:txBody>
      </p:sp>
      <p:pic>
        <p:nvPicPr>
          <p:cNvPr id="3074" name="Picture 2" descr="ARC-AGI-2: Scale is Not Enough">
            <a:extLst>
              <a:ext uri="{FF2B5EF4-FFF2-40B4-BE49-F238E27FC236}">
                <a16:creationId xmlns:a16="http://schemas.microsoft.com/office/drawing/2014/main" id="{436B3EDB-07D0-1224-711D-3C624FA0ED6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632" y="984250"/>
            <a:ext cx="9793111" cy="550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108413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EE11D-A1CF-0C05-F6EB-3D5086410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Reasoning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73DB1E0-E157-C397-4B11-F6AE511626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618" y="984250"/>
            <a:ext cx="9093138" cy="550862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14291F-6D7A-3924-DA89-46E13BC67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51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289232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3896E0-4AEB-4A46-BB63-EB65B8832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References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674767-B0A7-4316-926D-B55D6872F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lang="en-US" altLang="zh-CN" sz="1800" dirty="0"/>
              <a:t>[1]</a:t>
            </a:r>
            <a:r>
              <a:rPr lang="zh-CN" altLang="en-US" sz="1800" dirty="0"/>
              <a:t> </a:t>
            </a:r>
            <a:r>
              <a:rPr lang="en-US" altLang="zh-CN" sz="1800" dirty="0">
                <a:hlinkClick r:id="rId2"/>
              </a:rPr>
              <a:t>Slides</a:t>
            </a:r>
            <a:r>
              <a:rPr lang="zh-CN" altLang="en-US" sz="1800" dirty="0">
                <a:hlinkClick r:id="rId2"/>
              </a:rPr>
              <a:t> </a:t>
            </a:r>
            <a:r>
              <a:rPr lang="en-US" altLang="zh-CN" sz="1800" dirty="0">
                <a:hlinkClick r:id="rId2"/>
              </a:rPr>
              <a:t>from</a:t>
            </a:r>
            <a:r>
              <a:rPr lang="zh-CN" altLang="en-US" sz="1800" dirty="0">
                <a:hlinkClick r:id="rId2"/>
              </a:rPr>
              <a:t> </a:t>
            </a:r>
            <a:r>
              <a:rPr lang="en-US" altLang="zh-CN" sz="1800" dirty="0">
                <a:hlinkClick r:id="rId2"/>
              </a:rPr>
              <a:t>Anoop</a:t>
            </a:r>
            <a:r>
              <a:rPr lang="zh-CN" altLang="en-US" sz="1800" dirty="0">
                <a:hlinkClick r:id="rId2"/>
              </a:rPr>
              <a:t> </a:t>
            </a:r>
            <a:r>
              <a:rPr lang="en-US" altLang="zh-CN" sz="1800" dirty="0">
                <a:hlinkClick r:id="rId2"/>
              </a:rPr>
              <a:t>Sarkar</a:t>
            </a:r>
            <a:endParaRPr lang="en-US" altLang="zh-CN" sz="1800" dirty="0"/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lang="en-US" altLang="zh-CN" sz="1800" dirty="0"/>
              <a:t>[2]</a:t>
            </a:r>
            <a:r>
              <a:rPr lang="zh-CN" altLang="en-US" sz="1800" dirty="0"/>
              <a:t> </a:t>
            </a:r>
            <a:r>
              <a:rPr lang="en-US" altLang="zh-CN" sz="1800" dirty="0">
                <a:hlinkClick r:id="rId3"/>
              </a:rPr>
              <a:t>A Survey on Evaluation of Large Language Models</a:t>
            </a:r>
            <a:r>
              <a:rPr lang="zh-CN" altLang="en-US" sz="1800" dirty="0"/>
              <a:t> </a:t>
            </a:r>
            <a:endParaRPr lang="en-US" altLang="zh-CN" sz="1800" dirty="0"/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lang="en-US" altLang="zh-CN" sz="1800" dirty="0"/>
              <a:t>[3]</a:t>
            </a:r>
            <a:r>
              <a:rPr lang="zh-CN" altLang="en-US" sz="1800" dirty="0"/>
              <a:t> </a:t>
            </a:r>
            <a:r>
              <a:rPr lang="en-US" altLang="zh-CN" sz="1800" dirty="0">
                <a:hlinkClick r:id="rId4"/>
              </a:rPr>
              <a:t>https://decanlp.com/</a:t>
            </a:r>
            <a:endParaRPr lang="en-US" altLang="zh-CN" sz="1800" dirty="0"/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lang="en-US" altLang="zh-CN" sz="1800" dirty="0"/>
              <a:t>[4]</a:t>
            </a:r>
            <a:r>
              <a:rPr lang="zh-CN" altLang="en-US" sz="1800" dirty="0"/>
              <a:t> </a:t>
            </a:r>
            <a:r>
              <a:rPr lang="en-US" altLang="zh-CN" sz="1800" dirty="0"/>
              <a:t>GPT-4</a:t>
            </a:r>
            <a:r>
              <a:rPr lang="zh-CN" altLang="en-US" sz="1800" dirty="0"/>
              <a:t> </a:t>
            </a:r>
            <a:r>
              <a:rPr lang="en-US" altLang="zh-CN" sz="1800" dirty="0">
                <a:hlinkClick r:id="rId5"/>
              </a:rPr>
              <a:t>https://arxiv.org/pdf/2303.08774</a:t>
            </a:r>
            <a:r>
              <a:rPr lang="zh-CN" altLang="en-US" sz="1800" dirty="0"/>
              <a:t> </a:t>
            </a:r>
            <a:endParaRPr lang="en-US" altLang="zh-CN" sz="1800" dirty="0"/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lang="en-US" altLang="zh-CN" sz="1800" dirty="0"/>
              <a:t>[5]</a:t>
            </a:r>
            <a:r>
              <a:rPr lang="zh-CN" altLang="en-US" sz="1800" dirty="0"/>
              <a:t> </a:t>
            </a:r>
            <a:r>
              <a:rPr lang="en-US" altLang="zh-CN" sz="1800" dirty="0">
                <a:hlinkClick r:id="rId6"/>
              </a:rPr>
              <a:t>https://rowanzellers.com/hellaswag/</a:t>
            </a:r>
            <a:r>
              <a:rPr lang="zh-CN" altLang="en-US" sz="1800" dirty="0"/>
              <a:t> </a:t>
            </a:r>
            <a:endParaRPr lang="en-US" altLang="zh-CN" sz="1800" dirty="0"/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lang="en-US" altLang="zh-CN" sz="1800" dirty="0"/>
              <a:t>[6]</a:t>
            </a:r>
            <a:r>
              <a:rPr lang="zh-CN" altLang="en-US" sz="1800" dirty="0"/>
              <a:t> </a:t>
            </a:r>
            <a:r>
              <a:rPr lang="en-US" altLang="zh-CN" sz="1800" dirty="0">
                <a:hlinkClick r:id="rId7"/>
              </a:rPr>
              <a:t>https://rowanzellers.com/swag/</a:t>
            </a:r>
            <a:r>
              <a:rPr lang="zh-CN" altLang="en-US" sz="1800" dirty="0"/>
              <a:t> </a:t>
            </a:r>
            <a:endParaRPr lang="en-US" altLang="zh-CN" sz="1800" dirty="0"/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lang="en-US" altLang="zh-CN" sz="1800" dirty="0"/>
              <a:t>[7]</a:t>
            </a:r>
            <a:r>
              <a:rPr lang="zh-CN" altLang="en-US" sz="1800" dirty="0"/>
              <a:t> </a:t>
            </a:r>
            <a:r>
              <a:rPr lang="en-US" altLang="zh-CN" sz="1800" dirty="0">
                <a:hlinkClick r:id="rId8"/>
              </a:rPr>
              <a:t>https://allenai.org/data/arc</a:t>
            </a:r>
            <a:r>
              <a:rPr lang="zh-CN" altLang="en-US" sz="1800" dirty="0"/>
              <a:t> </a:t>
            </a:r>
            <a:endParaRPr lang="en-US" altLang="zh-CN" sz="1800" dirty="0"/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lang="en-US" altLang="zh-CN" sz="1800" dirty="0"/>
              <a:t>[8]</a:t>
            </a:r>
            <a:r>
              <a:rPr lang="zh-CN" altLang="en-US" sz="1800" dirty="0"/>
              <a:t> </a:t>
            </a:r>
            <a:r>
              <a:rPr lang="en-US" altLang="zh-CN" sz="1800" dirty="0">
                <a:hlinkClick r:id="rId9"/>
              </a:rPr>
              <a:t>https://winogrande.allenai.org/</a:t>
            </a:r>
            <a:r>
              <a:rPr lang="zh-CN" altLang="en-US" sz="1800" dirty="0"/>
              <a:t> </a:t>
            </a:r>
            <a:endParaRPr lang="en-US" altLang="zh-CN" sz="1800" dirty="0"/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lang="en-US" altLang="zh-CN" sz="1800" dirty="0"/>
              <a:t>[9]</a:t>
            </a:r>
            <a:r>
              <a:rPr lang="zh-CN" altLang="en-US" sz="1800" dirty="0"/>
              <a:t> </a:t>
            </a:r>
            <a:r>
              <a:rPr lang="en-US" altLang="zh-CN" sz="1800" dirty="0">
                <a:hlinkClick r:id="rId10"/>
              </a:rPr>
              <a:t>https://allenai.org/data/drop</a:t>
            </a:r>
            <a:r>
              <a:rPr lang="zh-CN" altLang="en-US" sz="1800" dirty="0"/>
              <a:t> </a:t>
            </a:r>
            <a:endParaRPr lang="en-US" altLang="zh-CN" sz="1800" dirty="0"/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lang="en-US" altLang="zh-CN" sz="1800" dirty="0"/>
              <a:t>[10]</a:t>
            </a:r>
            <a:r>
              <a:rPr lang="zh-CN" altLang="en-US" sz="1800" dirty="0"/>
              <a:t> </a:t>
            </a:r>
            <a:r>
              <a:rPr lang="en-US" altLang="zh-CN" sz="1800" dirty="0">
                <a:hlinkClick r:id="rId11"/>
              </a:rPr>
              <a:t>https://crfm.stanford.edu/helm/mmlu/latest/#/leaderboard</a:t>
            </a:r>
            <a:r>
              <a:rPr lang="zh-CN" altLang="en-US" sz="1800" dirty="0"/>
              <a:t> </a:t>
            </a:r>
            <a:endParaRPr lang="en-US" altLang="zh-CN" sz="1800" dirty="0"/>
          </a:p>
          <a:p>
            <a:pPr>
              <a:spcBef>
                <a:spcPts val="400"/>
              </a:spcBef>
              <a:spcAft>
                <a:spcPts val="600"/>
              </a:spcAft>
            </a:pPr>
            <a:endParaRPr lang="en-US" altLang="zh-CN" sz="1800" dirty="0"/>
          </a:p>
          <a:p>
            <a:pPr marL="0" indent="0">
              <a:spcBef>
                <a:spcPts val="400"/>
              </a:spcBef>
              <a:spcAft>
                <a:spcPts val="600"/>
              </a:spcAft>
              <a:buNone/>
            </a:pPr>
            <a:r>
              <a:rPr lang="en-US" altLang="zh-CN" sz="1800" dirty="0"/>
              <a:t>Next</a:t>
            </a:r>
            <a:r>
              <a:rPr lang="zh-CN" altLang="en-US" sz="1800" dirty="0"/>
              <a:t> </a:t>
            </a:r>
            <a:r>
              <a:rPr lang="en-US" altLang="zh-CN" sz="1800" dirty="0"/>
              <a:t>topic:</a:t>
            </a:r>
            <a:r>
              <a:rPr lang="zh-CN" altLang="en-US" sz="1800" dirty="0"/>
              <a:t> </a:t>
            </a:r>
            <a:r>
              <a:rPr lang="en-US" altLang="zh-CN" sz="1800" dirty="0"/>
              <a:t>LLMs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918FDC-FD56-4F87-BDBE-40D3BC372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B421-126E-41CB-B73A-69D52E98CAE3}" type="slidenum">
              <a:rPr lang="zh-CN" altLang="en-US" smtClean="0"/>
              <a:t>52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8655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ahoma">
      <a:majorFont>
        <a:latin typeface="Tahoma"/>
        <a:ea typeface="Tahoma"/>
        <a:cs typeface=""/>
      </a:majorFont>
      <a:minorFont>
        <a:latin typeface="Tahoma"/>
        <a:ea typeface="Tahoma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TM02892315[[fn=丝状]]</Template>
  <TotalTime>0</TotalTime>
  <Words>4373</Words>
  <Application>Microsoft Macintosh PowerPoint</Application>
  <PresentationFormat>Widescreen</PresentationFormat>
  <Paragraphs>435</Paragraphs>
  <Slides>52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8" baseType="lpstr">
      <vt:lpstr>等线</vt:lpstr>
      <vt:lpstr>Söhne</vt:lpstr>
      <vt:lpstr>Arial</vt:lpstr>
      <vt:lpstr>Roboto</vt:lpstr>
      <vt:lpstr>Tahoma</vt:lpstr>
      <vt:lpstr>Office 主题​​</vt:lpstr>
      <vt:lpstr>Lecture 07 – Benchmarks</vt:lpstr>
      <vt:lpstr>Outline</vt:lpstr>
      <vt:lpstr>GLUE https://gluebenchmark.com/ </vt:lpstr>
      <vt:lpstr>GLUE https://gluebenchmark.com/ </vt:lpstr>
      <vt:lpstr>GLUE 1. Single-sentence tasks</vt:lpstr>
      <vt:lpstr>GLUE 1. Single-sentence tasks</vt:lpstr>
      <vt:lpstr>GLUE 2. Similarity and Paraphrase Tasks</vt:lpstr>
      <vt:lpstr>GLUE 2. Similarity and Paraphrase Tasks</vt:lpstr>
      <vt:lpstr>GLUE 2. Similarity and Paraphrase Tasks</vt:lpstr>
      <vt:lpstr>GLUE 3. Inference Tasks</vt:lpstr>
      <vt:lpstr>GLUE 3. Inference Tasks</vt:lpstr>
      <vt:lpstr>GLUE 3. Inference Tasks</vt:lpstr>
      <vt:lpstr>GLUE 3. Inference Tasks</vt:lpstr>
      <vt:lpstr>GLUE benchmark performance</vt:lpstr>
      <vt:lpstr>SuperGLUE https://super.gluebenchmark.com/ </vt:lpstr>
      <vt:lpstr>SuperGLUE 1. BoolQ</vt:lpstr>
      <vt:lpstr>SuperGLUE 2. CB</vt:lpstr>
      <vt:lpstr>SuperGLUE 3. COPA</vt:lpstr>
      <vt:lpstr>SuperGLUE 4. MultiRC</vt:lpstr>
      <vt:lpstr>SuperGLUE 5. ReCoRD</vt:lpstr>
      <vt:lpstr>SuperGLUE 6. RTE</vt:lpstr>
      <vt:lpstr>SuperGLUE 7. WiC</vt:lpstr>
      <vt:lpstr>SuperGLUE 8. WSC</vt:lpstr>
      <vt:lpstr>Outline</vt:lpstr>
      <vt:lpstr>SWAG Situations With Adversarial Generations (SWAG)</vt:lpstr>
      <vt:lpstr>SWAG https://rowanzellers.com/swag/</vt:lpstr>
      <vt:lpstr>SWAG https://rowanzellers.com/swag/</vt:lpstr>
      <vt:lpstr>HellaSWAG https://rowanzellers.com/hellaswag/</vt:lpstr>
      <vt:lpstr>HellaSWAG https://rowanzellers.com/hellaswag/</vt:lpstr>
      <vt:lpstr>HellaSWAG https://rowanzellers.com/hellaswag/</vt:lpstr>
      <vt:lpstr>HellaSWAG</vt:lpstr>
      <vt:lpstr>Outline</vt:lpstr>
      <vt:lpstr>Other Datasets</vt:lpstr>
      <vt:lpstr>PowerPoint Presentation</vt:lpstr>
      <vt:lpstr>Other Datasets MMLU</vt:lpstr>
      <vt:lpstr>Other Datasets MMLU</vt:lpstr>
      <vt:lpstr>Other Datasets ARC</vt:lpstr>
      <vt:lpstr>Other Datasets WinoGrande</vt:lpstr>
      <vt:lpstr>Other Datasets DROP</vt:lpstr>
      <vt:lpstr>Other Datasets GSM-8K</vt:lpstr>
      <vt:lpstr>Other Datasets BLiMP</vt:lpstr>
      <vt:lpstr>Other Datasets HumanEval</vt:lpstr>
      <vt:lpstr>Outline</vt:lpstr>
      <vt:lpstr>Question Answering</vt:lpstr>
      <vt:lpstr>Summarization</vt:lpstr>
      <vt:lpstr>Translation</vt:lpstr>
      <vt:lpstr>Structured Prediction</vt:lpstr>
      <vt:lpstr>Dynabench: Rethinking Benchmarking in NLP</vt:lpstr>
      <vt:lpstr>https://contextual.ai/plotting-progress-in-ai/ </vt:lpstr>
      <vt:lpstr>https://arcprize.org/</vt:lpstr>
      <vt:lpstr>Reasoning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2023-02-22T16:32:21Z</dcterms:created>
  <dcterms:modified xsi:type="dcterms:W3CDTF">2025-10-29T11:18:23Z</dcterms:modified>
</cp:coreProperties>
</file>